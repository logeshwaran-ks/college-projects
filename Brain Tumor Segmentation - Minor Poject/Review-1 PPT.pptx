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7" r:id="rId2"/>
    <p:sldId id="267" r:id="rId3"/>
    <p:sldId id="260" r:id="rId4"/>
    <p:sldId id="269" r:id="rId5"/>
    <p:sldId id="271" r:id="rId6"/>
    <p:sldId id="317" r:id="rId7"/>
    <p:sldId id="294" r:id="rId8"/>
    <p:sldId id="285" r:id="rId9"/>
    <p:sldId id="293" r:id="rId10"/>
    <p:sldId id="297" r:id="rId11"/>
    <p:sldId id="295" r:id="rId12"/>
    <p:sldId id="296" r:id="rId13"/>
    <p:sldId id="276" r:id="rId14"/>
    <p:sldId id="277" r:id="rId15"/>
    <p:sldId id="281" r:id="rId16"/>
    <p:sldId id="282" r:id="rId17"/>
    <p:sldId id="280" r:id="rId18"/>
    <p:sldId id="275" r:id="rId19"/>
    <p:sldId id="274" r:id="rId20"/>
    <p:sldId id="278" r:id="rId21"/>
    <p:sldId id="284" r:id="rId22"/>
    <p:sldId id="286"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34">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2" d="100"/>
          <a:sy n="62" d="100"/>
        </p:scale>
        <p:origin x="-450" y="-78"/>
      </p:cViewPr>
      <p:guideLst>
        <p:guide orient="horz" pos="2134"/>
        <p:guide pos="2880"/>
      </p:guideLst>
    </p:cSldViewPr>
  </p:slideViewPr>
  <p:notesTextViewPr>
    <p:cViewPr>
      <p:scale>
        <a:sx n="1" d="1"/>
        <a:sy n="1" d="1"/>
      </p:scale>
      <p:origin x="0" y="0"/>
    </p:cViewPr>
  </p:notesTextViewPr>
  <p:notesViewPr>
    <p:cSldViewPr>
      <p:cViewPr varScale="1">
        <p:scale>
          <a:sx n="66" d="100"/>
          <a:sy n="66" d="100"/>
        </p:scale>
        <p:origin x="3134" y="8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REVIEW-I</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D86515-8EBA-400E-A96D-2F8A6C60D655}" type="datetimeFigureOut">
              <a:rPr lang="en-IN" smtClean="0"/>
              <a:pPr/>
              <a:t>06-05-2023</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IN"/>
              <a:t>BATCH NO:                   PRESENTED DATE:</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C4878CF-8FC7-4370-B28D-5CC1922D65AA}" type="slidenum">
              <a:rPr lang="en-IN" smtClean="0"/>
              <a:pPr/>
              <a:t>‹#›</a:t>
            </a:fld>
            <a:endParaRPr lang="en-IN"/>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REVIEW-I</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32EFEE-7E95-432F-B5F7-1629128B8B50}" type="datetimeFigureOut">
              <a:rPr lang="en-IN" smtClean="0"/>
              <a:pPr/>
              <a:t>06-05-2023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BATCH NO:                   PRESENTED DATE: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0769F63-365D-4A0A-B033-A46EF4671CBB}"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0769F63-365D-4A0A-B033-A46EF4671CBB}" type="slidenum">
              <a:rPr lang="en-IN" smtClean="0"/>
              <a:pPr/>
              <a:t>1</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Header Placeholder 5"/>
          <p:cNvSpPr>
            <a:spLocks noGrp="1"/>
          </p:cNvSpPr>
          <p:nvPr>
            <p:ph type="hdr" sz="quarter" idx="12"/>
          </p:nvPr>
        </p:nvSpPr>
        <p:spPr/>
        <p:txBody>
          <a:bodyPr/>
          <a:lstStyle/>
          <a:p>
            <a:r>
              <a:rPr lang="en-IN"/>
              <a:t>REVIEW-I</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cstate="print">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cstate="print">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cstate="print">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70D537-EDE2-49AE-810C-8B0B3D1F84AB}" type="datetime1">
              <a:rPr lang="en-IN" smtClean="0"/>
              <a:pPr/>
              <a:t>06-05-2023</a:t>
            </a:fld>
            <a:endParaRPr lang="en-IN"/>
          </a:p>
        </p:txBody>
      </p:sp>
      <p:sp>
        <p:nvSpPr>
          <p:cNvPr id="5" name="Footer Placeholder 4"/>
          <p:cNvSpPr>
            <a:spLocks noGrp="1"/>
          </p:cNvSpPr>
          <p:nvPr>
            <p:ph type="ftr" sz="quarter" idx="11"/>
          </p:nvPr>
        </p:nvSpPr>
        <p:spPr>
          <a:xfrm>
            <a:off x="812805" y="6272785"/>
            <a:ext cx="4745736" cy="365125"/>
          </a:xfrm>
        </p:spPr>
        <p:txBody>
          <a:bodyPr/>
          <a:lstStyle/>
          <a:p>
            <a:r>
              <a:rPr lang="en-IN"/>
              <a:t>BATCH NO:        DEPARTMENT OF COMPUTER SCIENCE &amp; ENGINEERING</a:t>
            </a:r>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FA00FD27-8DB0-4CB2-BD37-BEA95C6A1008}"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B7F2CF-3883-4F4C-B632-6E38E4E094B5}" type="datetime1">
              <a:rPr lang="en-IN" smtClean="0"/>
              <a:pPr/>
              <a:t>06-05-2023</a:t>
            </a:fld>
            <a:endParaRPr lang="en-IN"/>
          </a:p>
        </p:txBody>
      </p:sp>
      <p:sp>
        <p:nvSpPr>
          <p:cNvPr id="8" name="Footer Placeholder 7"/>
          <p:cNvSpPr>
            <a:spLocks noGrp="1"/>
          </p:cNvSpPr>
          <p:nvPr>
            <p:ph type="ftr" sz="quarter" idx="11"/>
          </p:nvPr>
        </p:nvSpPr>
        <p:spPr/>
        <p:txBody>
          <a:bodyPr/>
          <a:lstStyle/>
          <a:p>
            <a:r>
              <a:rPr lang="en-IN"/>
              <a:t>BATCH NO:        DEPARTMENT OF COMPUTER SCIENCE &amp; ENGINEERING</a:t>
            </a:r>
          </a:p>
        </p:txBody>
      </p:sp>
      <p:sp>
        <p:nvSpPr>
          <p:cNvPr id="9" name="Slide Number Placeholder 8"/>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cstate="print">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B1066AE2-AF1D-4677-96D7-EBAA6AE25E23}" type="datetime1">
              <a:rPr lang="en-IN" smtClean="0"/>
              <a:pPr/>
              <a:t>06-05-2023</a:t>
            </a:fld>
            <a:endParaRPr lang="en-IN"/>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r>
              <a:rPr lang="en-IN"/>
              <a:t>BATCH NO:        DEPARTMENT OF COMPUTER SCIENCE &amp; ENGINEERING</a:t>
            </a:r>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FA00FD27-8DB0-4CB2-BD37-BEA95C6A1008}"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1B02B2-2503-42D5-8933-DD97C0BEA5D0}" type="datetime1">
              <a:rPr lang="en-IN" smtClean="0"/>
              <a:pPr/>
              <a:t>06-05-2023</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CB3616-465C-495D-9A00-056676821BE6}" type="datetime1">
              <a:rPr lang="en-IN" smtClean="0"/>
              <a:pPr/>
              <a:t>06-05-2023</a:t>
            </a:fld>
            <a:endParaRPr lang="en-IN"/>
          </a:p>
        </p:txBody>
      </p:sp>
      <p:sp>
        <p:nvSpPr>
          <p:cNvPr id="8" name="Footer Placeholder 7"/>
          <p:cNvSpPr>
            <a:spLocks noGrp="1"/>
          </p:cNvSpPr>
          <p:nvPr>
            <p:ph type="ftr" sz="quarter" idx="11"/>
          </p:nvPr>
        </p:nvSpPr>
        <p:spPr/>
        <p:txBody>
          <a:bodyPr/>
          <a:lstStyle/>
          <a:p>
            <a:r>
              <a:rPr lang="en-IN"/>
              <a:t>BATCH NO:        DEPARTMENT OF COMPUTER SCIENCE &amp; ENGINEERING</a:t>
            </a:r>
          </a:p>
        </p:txBody>
      </p:sp>
      <p:sp>
        <p:nvSpPr>
          <p:cNvPr id="9" name="Slide Number Placeholder 8"/>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5F0F884-C838-417E-99C1-DE1F0E45D1A5}" type="datetime1">
              <a:rPr lang="en-IN" smtClean="0"/>
              <a:pPr/>
              <a:t>06-05-2023</a:t>
            </a:fld>
            <a:endParaRPr lang="en-IN"/>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r>
              <a:rPr lang="en-IN"/>
              <a:t>BATCH NO: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1429E6-F48A-43E5-A67A-B601591398FA}" type="datetime1">
              <a:rPr lang="en-IN" smtClean="0"/>
              <a:pPr/>
              <a:t>06-05-2023</a:t>
            </a:fld>
            <a:endParaRPr lang="en-IN"/>
          </a:p>
        </p:txBody>
      </p:sp>
      <p:sp>
        <p:nvSpPr>
          <p:cNvPr id="3" name="Footer Placeholder 2"/>
          <p:cNvSpPr>
            <a:spLocks noGrp="1"/>
          </p:cNvSpPr>
          <p:nvPr>
            <p:ph type="ftr" sz="quarter" idx="11"/>
          </p:nvPr>
        </p:nvSpPr>
        <p:spPr/>
        <p:txBody>
          <a:bodyPr/>
          <a:lstStyle/>
          <a:p>
            <a:r>
              <a:rPr lang="en-IN"/>
              <a:t>BATCH NO: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cstate="print">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073DCE43-7549-4D6F-B1F3-E92C10B6BCCC}" type="datetime1">
              <a:rPr lang="en-IN" smtClean="0"/>
              <a:pPr/>
              <a:t>06-05-2023</a:t>
            </a:fld>
            <a:endParaRPr lang="en-IN"/>
          </a:p>
        </p:txBody>
      </p:sp>
      <p:sp>
        <p:nvSpPr>
          <p:cNvPr id="10" name="Footer Placeholder 9"/>
          <p:cNvSpPr>
            <a:spLocks noGrp="1"/>
          </p:cNvSpPr>
          <p:nvPr>
            <p:ph type="ftr" sz="quarter" idx="11"/>
          </p:nvPr>
        </p:nvSpPr>
        <p:spPr/>
        <p:txBody>
          <a:bodyPr/>
          <a:lstStyle/>
          <a:p>
            <a:r>
              <a:rPr lang="en-IN"/>
              <a:t>BATCH NO:        DEPARTMENT OF COMPUTER SCIENCE &amp; ENGINEERING</a:t>
            </a:r>
          </a:p>
        </p:txBody>
      </p:sp>
      <p:sp>
        <p:nvSpPr>
          <p:cNvPr id="11" name="Slide Number Placeholder 10"/>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cstate="print">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xmlns="">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F4BACCD4-F58A-4D26-959D-A6D58818C3CA}" type="datetime1">
              <a:rPr lang="en-IN" smtClean="0"/>
              <a:pPr/>
              <a:t>06-05-2023</a:t>
            </a:fld>
            <a:endParaRPr lang="en-IN"/>
          </a:p>
        </p:txBody>
      </p:sp>
      <p:sp>
        <p:nvSpPr>
          <p:cNvPr id="10" name="Slide Number Placeholder 9"/>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3BA35F-3FF9-4172-8315-9A07D29B3C60}" type="datetime1">
              <a:rPr lang="en-IN" smtClean="0"/>
              <a:pPr/>
              <a:t>06-05-2023</a:t>
            </a:fld>
            <a:endParaRPr lang="en-IN"/>
          </a:p>
        </p:txBody>
      </p:sp>
      <p:sp>
        <p:nvSpPr>
          <p:cNvPr id="8" name="Footer Placeholder 7"/>
          <p:cNvSpPr>
            <a:spLocks noGrp="1"/>
          </p:cNvSpPr>
          <p:nvPr>
            <p:ph type="ftr" sz="quarter" idx="11"/>
          </p:nvPr>
        </p:nvSpPr>
        <p:spPr/>
        <p:txBody>
          <a:bodyPr/>
          <a:lstStyle/>
          <a:p>
            <a:r>
              <a:rPr lang="en-IN"/>
              <a:t>BATCH NO:        DEPARTMENT OF COMPUTER SCIENCE &amp; ENGINEERING</a:t>
            </a:r>
          </a:p>
        </p:txBody>
      </p:sp>
      <p:sp>
        <p:nvSpPr>
          <p:cNvPr id="9" name="Slide Number Placeholder 8"/>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A4DB02-0D07-4586-887F-03783EBD29DC}" type="datetime1">
              <a:rPr lang="en-IN" smtClean="0"/>
              <a:pPr/>
              <a:t>06-05-2023</a:t>
            </a:fld>
            <a:endParaRPr lang="en-IN"/>
          </a:p>
        </p:txBody>
      </p:sp>
      <p:sp>
        <p:nvSpPr>
          <p:cNvPr id="8" name="Footer Placeholder 7"/>
          <p:cNvSpPr>
            <a:spLocks noGrp="1"/>
          </p:cNvSpPr>
          <p:nvPr>
            <p:ph type="ftr" sz="quarter" idx="11"/>
          </p:nvPr>
        </p:nvSpPr>
        <p:spPr/>
        <p:txBody>
          <a:bodyPr/>
          <a:lstStyle/>
          <a:p>
            <a:r>
              <a:rPr lang="en-IN"/>
              <a:t>BATCH NO:        DEPARTMENT OF COMPUTER SCIENCE &amp; ENGINEERING</a:t>
            </a:r>
          </a:p>
        </p:txBody>
      </p:sp>
      <p:sp>
        <p:nvSpPr>
          <p:cNvPr id="9" name="Slide Number Placeholder 8"/>
          <p:cNvSpPr>
            <a:spLocks noGrp="1"/>
          </p:cNvSpPr>
          <p:nvPr>
            <p:ph type="sldNum" sz="quarter" idx="12"/>
          </p:nvPr>
        </p:nvSpPr>
        <p:spPr/>
        <p:txBody>
          <a:bodyPr/>
          <a:lstStyle/>
          <a:p>
            <a:fld id="{FA00FD27-8DB0-4CB2-BD37-BEA95C6A100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cstate="print">
                <a:duotone>
                  <a:schemeClr val="accent1">
                    <a:shade val="45000"/>
                    <a:satMod val="135000"/>
                  </a:schemeClr>
                  <a:prstClr val="white"/>
                </a:duotone>
                <a:extLst>
                  <a:ext uri="{BEBA8EAE-BF5A-486C-A8C5-ECC9F3942E4B}">
                    <a14:imgProps xmlns:a14="http://schemas.microsoft.com/office/drawing/2010/main" xmlns="">
                      <a14:imgLayer r:embed="rId14">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9BEDCF45-E68F-436B-B297-193DBD8C6844}" type="datetime1">
              <a:rPr lang="en-IN" smtClean="0"/>
              <a:pPr/>
              <a:t>06-05-2023</a:t>
            </a:fld>
            <a:endParaRPr lang="en-IN"/>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r>
              <a:rPr lang="en-IN"/>
              <a:t>BATCH NO:        DEPARTMENT OF COMPUTER SCIENCE &amp; ENGINEERING</a:t>
            </a:r>
            <a:endParaRPr lang="en-IN"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r>
              <a:rPr lang="en-IN"/>
              <a:t>BATCH-NO:</a:t>
            </a:r>
            <a:endParaRPr lang="en-IN" dirty="0"/>
          </a:p>
        </p:txBody>
      </p:sp>
      <p:pic>
        <p:nvPicPr>
          <p:cNvPr id="10" name="Picture 9"/>
          <p:cNvPicPr>
            <a:picLocks noChangeAspect="1"/>
          </p:cNvPicPr>
          <p:nvPr userDrawn="1"/>
        </p:nvPicPr>
        <p:blipFill>
          <a:blip r:embed="rId15" cstate="print">
            <a:extLst>
              <a:ext uri="{28A0092B-C50C-407E-A947-70E740481C1C}">
                <a14:useLocalDpi xmlns:a14="http://schemas.microsoft.com/office/drawing/2010/main" xmlns="" val="0"/>
              </a:ext>
            </a:extLst>
          </a:blip>
          <a:stretch>
            <a:fillRect/>
          </a:stretch>
        </p:blipFill>
        <p:spPr>
          <a:xfrm>
            <a:off x="7308304" y="468078"/>
            <a:ext cx="1119658" cy="11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200" b="0" kern="1200" cap="all" baseline="0">
          <a:blipFill>
            <a:blip r:embed="rId16">
              <a:extLst>
                <a:ext uri="{28A0092B-C50C-407E-A947-70E740481C1C}">
                  <a14:useLocalDpi xmlns:a14="http://schemas.microsoft.com/office/drawing/2010/main" xmlns=""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ogo VTU"/>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15816" y="839440"/>
            <a:ext cx="3096344" cy="710214"/>
          </a:xfrm>
          <a:prstGeom prst="rect">
            <a:avLst/>
          </a:prstGeom>
          <a:noFill/>
          <a:ln>
            <a:noFill/>
          </a:ln>
        </p:spPr>
      </p:pic>
      <p:sp>
        <p:nvSpPr>
          <p:cNvPr id="4" name="Rectangle 3"/>
          <p:cNvSpPr/>
          <p:nvPr/>
        </p:nvSpPr>
        <p:spPr>
          <a:xfrm>
            <a:off x="755576" y="1700808"/>
            <a:ext cx="7848872" cy="1600438"/>
          </a:xfrm>
          <a:prstGeom prst="rect">
            <a:avLst/>
          </a:prstGeom>
        </p:spPr>
        <p:txBody>
          <a:bodyPr wrap="square">
            <a:spAutoFit/>
          </a:bodyPr>
          <a:lstStyle/>
          <a:p>
            <a:pPr algn="ctr"/>
            <a:r>
              <a:rPr lang="en-US" sz="1600" b="1" dirty="0">
                <a:latin typeface="Times New Roman" panose="02020603050405020304" pitchFamily="18" charset="0"/>
                <a:ea typeface="Verdana" panose="020B0604030504040204" pitchFamily="34" charset="0"/>
                <a:cs typeface="Times New Roman" panose="02020603050405020304" pitchFamily="18" charset="0"/>
              </a:rPr>
              <a:t>DEPARTMENT OF COMPUTER SCIENCE &amp; ENGINEERING</a:t>
            </a:r>
          </a:p>
          <a:p>
            <a:pPr algn="ctr"/>
            <a:r>
              <a:rPr lang="en-US" sz="1600" b="1" dirty="0">
                <a:latin typeface="Times New Roman" panose="02020603050405020304" pitchFamily="18" charset="0"/>
                <a:ea typeface="Verdana" panose="020B0604030504040204" pitchFamily="34" charset="0"/>
                <a:cs typeface="Times New Roman" panose="02020603050405020304" pitchFamily="18" charset="0"/>
              </a:rPr>
              <a:t>SCHOOL OF COMPUTING</a:t>
            </a:r>
          </a:p>
          <a:p>
            <a:pPr lvl="0" algn="ctr" eaLnBrk="1" latinLnBrk="1" hangingPunct="1"/>
            <a:r>
              <a:rPr lang="en-US" altLang="en-US" sz="1600" b="1" dirty="0">
                <a:latin typeface="Times New Roman" panose="02020603050405020304" pitchFamily="18" charset="0"/>
                <a:ea typeface="Verdana" panose="020B0604030504040204" pitchFamily="34" charset="0"/>
              </a:rPr>
              <a:t>1156CS601- MINOR PROJECT </a:t>
            </a:r>
          </a:p>
          <a:p>
            <a:pPr lvl="0" algn="ctr" eaLnBrk="1" latinLnBrk="1" hangingPunct="1"/>
            <a:r>
              <a:rPr lang="en-US" sz="1600" b="1" dirty="0">
                <a:latin typeface="Times New Roman" panose="02020603050405020304" pitchFamily="18" charset="0"/>
                <a:ea typeface="Verdana" panose="020B0604030504040204" pitchFamily="34" charset="0"/>
                <a:cs typeface="Times New Roman" panose="02020603050405020304" pitchFamily="18" charset="0"/>
              </a:rPr>
              <a:t>WINTER SEMESTER(2022-2023) </a:t>
            </a:r>
          </a:p>
          <a:p>
            <a:pPr algn="ctr"/>
            <a:r>
              <a:rPr lang="en-US" sz="1600" b="1" dirty="0">
                <a:latin typeface="Times New Roman" panose="02020603050405020304" pitchFamily="18" charset="0"/>
                <a:ea typeface="Verdana" panose="020B0604030504040204" pitchFamily="34" charset="0"/>
                <a:cs typeface="Times New Roman" panose="02020603050405020304" pitchFamily="18" charset="0"/>
              </a:rPr>
              <a:t>REVIEW - I</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algn="ctr"/>
            <a:endParaRPr lang="en-IN" dirty="0"/>
          </a:p>
        </p:txBody>
      </p:sp>
      <p:sp>
        <p:nvSpPr>
          <p:cNvPr id="7" name="Rectangle 6"/>
          <p:cNvSpPr/>
          <p:nvPr/>
        </p:nvSpPr>
        <p:spPr>
          <a:xfrm>
            <a:off x="557808" y="3140968"/>
            <a:ext cx="7848872" cy="707886"/>
          </a:xfrm>
          <a:prstGeom prst="rect">
            <a:avLst/>
          </a:prstGeom>
        </p:spPr>
        <p:txBody>
          <a:bodyPr wrap="square">
            <a:spAutoFit/>
          </a:bodyPr>
          <a:lstStyle/>
          <a:p>
            <a:pPr algn="ctr"/>
            <a:r>
              <a:rPr lang="en-US" sz="2000" b="1" dirty="0">
                <a:latin typeface="Times New Roman" panose="02020603050405020304"/>
                <a:cs typeface="Times New Roman" panose="02020603050405020304"/>
              </a:rPr>
              <a:t>OPTIMIZED U-NET ARCHITECTURE FOR BRAIN TUMOR SEGMENTATION</a:t>
            </a:r>
          </a:p>
        </p:txBody>
      </p:sp>
      <p:sp>
        <p:nvSpPr>
          <p:cNvPr id="8" name="Rectangle 7"/>
          <p:cNvSpPr/>
          <p:nvPr/>
        </p:nvSpPr>
        <p:spPr>
          <a:xfrm>
            <a:off x="5584474" y="4221088"/>
            <a:ext cx="3024336" cy="1728678"/>
          </a:xfrm>
          <a:prstGeom prst="rect">
            <a:avLst/>
          </a:prstGeom>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PRESENTED BY</a:t>
            </a:r>
          </a:p>
          <a:p>
            <a:pPr marL="190500" indent="-177800">
              <a:lnSpc>
                <a:spcPct val="100000"/>
              </a:lnSpc>
              <a:spcBef>
                <a:spcPts val="370"/>
              </a:spcBef>
              <a:buAutoNum type="arabicPeriod"/>
              <a:tabLst>
                <a:tab pos="190500" algn="l"/>
              </a:tabLst>
            </a:pPr>
            <a:r>
              <a:rPr lang="en-US" sz="1400" b="1" spc="-5" dirty="0">
                <a:latin typeface="Times New Roman" panose="02020603050405020304"/>
                <a:cs typeface="Times New Roman" panose="02020603050405020304"/>
              </a:rPr>
              <a:t>LOGESHWARAN K S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15366</a:t>
            </a:r>
            <a:r>
              <a:rPr lang="en-US" sz="1400" b="1" spc="-5" dirty="0">
                <a:latin typeface="Times New Roman" panose="02020603050405020304"/>
                <a:cs typeface="Times New Roman" panose="02020603050405020304"/>
              </a:rPr>
              <a:t>) (20UECS0530)</a:t>
            </a:r>
            <a:endParaRPr lang="en-US" sz="1400" dirty="0">
              <a:latin typeface="Times New Roman" panose="02020603050405020304"/>
              <a:cs typeface="Times New Roman" panose="02020603050405020304"/>
            </a:endParaRPr>
          </a:p>
          <a:p>
            <a:pPr marL="190500" indent="-177800">
              <a:lnSpc>
                <a:spcPct val="100000"/>
              </a:lnSpc>
              <a:spcBef>
                <a:spcPts val="270"/>
              </a:spcBef>
              <a:buAutoNum type="arabicPeriod"/>
              <a:tabLst>
                <a:tab pos="190500" algn="l"/>
              </a:tabLst>
            </a:pPr>
            <a:r>
              <a:rPr lang="en-US" sz="1400" b="1" spc="-5" dirty="0">
                <a:latin typeface="Times New Roman" panose="02020603050405020304"/>
                <a:cs typeface="Times New Roman" panose="02020603050405020304"/>
              </a:rPr>
              <a:t>SATWIKA B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15368</a:t>
            </a:r>
            <a:r>
              <a:rPr lang="en-US" sz="1400" b="1" spc="-5" dirty="0">
                <a:latin typeface="Times New Roman" panose="02020603050405020304"/>
                <a:cs typeface="Times New Roman" panose="02020603050405020304"/>
              </a:rPr>
              <a:t>)  (20UECS0852)</a:t>
            </a:r>
            <a:endParaRPr lang="en-US" sz="1400" dirty="0">
              <a:latin typeface="Times New Roman" panose="02020603050405020304"/>
              <a:cs typeface="Times New Roman" panose="02020603050405020304"/>
            </a:endParaRPr>
          </a:p>
          <a:p>
            <a:pPr marL="190500" indent="-177800">
              <a:lnSpc>
                <a:spcPct val="100000"/>
              </a:lnSpc>
              <a:spcBef>
                <a:spcPts val="270"/>
              </a:spcBef>
              <a:buAutoNum type="arabicPeriod"/>
              <a:tabLst>
                <a:tab pos="190500" algn="l"/>
              </a:tabLst>
            </a:pPr>
            <a:r>
              <a:rPr lang="en-US" sz="1400" b="1" spc="-5" dirty="0">
                <a:latin typeface="Times New Roman" panose="02020603050405020304"/>
                <a:cs typeface="Times New Roman" panose="02020603050405020304"/>
              </a:rPr>
              <a:t>FAZEL KHAN P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17589</a:t>
            </a:r>
            <a:r>
              <a:rPr lang="en-US" sz="1400" b="1" spc="-5" dirty="0">
                <a:latin typeface="Times New Roman" panose="02020603050405020304"/>
                <a:cs typeface="Times New Roman" panose="02020603050405020304"/>
              </a:rPr>
              <a:t>) (20UECS0729)</a:t>
            </a:r>
            <a:endParaRPr lang="en-US" sz="1400" dirty="0">
              <a:latin typeface="Times New Roman" panose="02020603050405020304"/>
              <a:cs typeface="Times New Roman" panose="02020603050405020304"/>
            </a:endParaRPr>
          </a:p>
        </p:txBody>
      </p:sp>
      <p:sp>
        <p:nvSpPr>
          <p:cNvPr id="9" name="Rectangle 8"/>
          <p:cNvSpPr/>
          <p:nvPr/>
        </p:nvSpPr>
        <p:spPr>
          <a:xfrm>
            <a:off x="685800" y="4245292"/>
            <a:ext cx="3185592" cy="954107"/>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SUPERVISED BY</a:t>
            </a:r>
          </a:p>
          <a:p>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Mr. S. SARAN RAJ</a:t>
            </a:r>
          </a:p>
          <a:p>
            <a:r>
              <a:rPr lang="en-US" sz="1400" b="1" dirty="0">
                <a:latin typeface="Times New Roman" panose="02020603050405020304" pitchFamily="18" charset="0"/>
                <a:cs typeface="Times New Roman" panose="02020603050405020304" pitchFamily="18" charset="0"/>
              </a:rPr>
              <a:t>ASSISTANT PROFESSOR </a:t>
            </a:r>
            <a:endParaRPr lang="en-IN" sz="1400" dirty="0"/>
          </a:p>
        </p:txBody>
      </p:sp>
      <p:sp>
        <p:nvSpPr>
          <p:cNvPr id="2" name="Date Placeholder 1"/>
          <p:cNvSpPr>
            <a:spLocks noGrp="1"/>
          </p:cNvSpPr>
          <p:nvPr>
            <p:ph type="dt" sz="half" idx="10"/>
          </p:nvPr>
        </p:nvSpPr>
        <p:spPr/>
        <p:txBody>
          <a:bodyPr/>
          <a:lstStyle/>
          <a:p>
            <a:fld id="{BDE25BC2-97E0-42D5-B1EE-307C8651BB35}" type="datetime1">
              <a:rPr lang="en-IN" smtClean="0"/>
              <a:pPr/>
              <a:t>06-05-2023</a:t>
            </a:fld>
            <a:endParaRPr lang="en-IN" dirty="0"/>
          </a:p>
        </p:txBody>
      </p:sp>
      <p:sp>
        <p:nvSpPr>
          <p:cNvPr id="3" name="Footer Placeholder 2"/>
          <p:cNvSpPr>
            <a:spLocks noGrp="1"/>
          </p:cNvSpPr>
          <p:nvPr>
            <p:ph type="ftr" sz="quarter" idx="11"/>
          </p:nvPr>
        </p:nvSpPr>
        <p:spPr>
          <a:xfrm>
            <a:off x="685800" y="6272785"/>
            <a:ext cx="6262464" cy="365125"/>
          </a:xfrm>
        </p:spPr>
        <p:txBody>
          <a:bodyPr/>
          <a:lstStyle/>
          <a:p>
            <a:r>
              <a:rPr lang="en-IN" dirty="0"/>
              <a:t>BATCH NO:  36                                          DEPARTMENT OF COMPUTER SCIENCE &amp; ENGINEERING</a:t>
            </a:r>
          </a:p>
        </p:txBody>
      </p:sp>
      <p:sp>
        <p:nvSpPr>
          <p:cNvPr id="6" name="Slide Number Placeholder 5"/>
          <p:cNvSpPr>
            <a:spLocks noGrp="1"/>
          </p:cNvSpPr>
          <p:nvPr>
            <p:ph type="sldNum" sz="quarter" idx="12"/>
          </p:nvPr>
        </p:nvSpPr>
        <p:spPr/>
        <p:txBody>
          <a:bodyPr/>
          <a:lstStyle/>
          <a:p>
            <a:fld id="{FA00FD27-8DB0-4CB2-BD37-BEA95C6A1008}" type="slidenum">
              <a:rPr lang="en-IN" smtClean="0"/>
              <a:pPr/>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ED5206-148C-4A5A-B90D-45CD799BDAFA}" type="datetime1">
              <a:rPr lang="en-IN" smtClean="0"/>
              <a:pPr/>
              <a:t>06-05-2023</a:t>
            </a:fld>
            <a:endParaRPr lang="en-IN"/>
          </a:p>
        </p:txBody>
      </p:sp>
      <p:sp>
        <p:nvSpPr>
          <p:cNvPr id="5" name="Footer Placeholder 4"/>
          <p:cNvSpPr>
            <a:spLocks noGrp="1"/>
          </p:cNvSpPr>
          <p:nvPr>
            <p:ph type="ftr" sz="quarter" idx="11"/>
          </p:nvPr>
        </p:nvSpPr>
        <p:spPr>
          <a:xfrm>
            <a:off x="685800" y="6272785"/>
            <a:ext cx="6838528" cy="365125"/>
          </a:xfrm>
        </p:spPr>
        <p:txBody>
          <a:bodyPr/>
          <a:lstStyle/>
          <a:p>
            <a:r>
              <a:rPr lang="en-IN" dirty="0"/>
              <a:t>BATCH NO:  36                                          DEPARTMENT OF COMPUTER SCIENCE &amp; ENGINEERING</a:t>
            </a:r>
          </a:p>
        </p:txBody>
      </p:sp>
      <p:sp>
        <p:nvSpPr>
          <p:cNvPr id="3" name="Slide Number Placeholder 2"/>
          <p:cNvSpPr>
            <a:spLocks noGrp="1"/>
          </p:cNvSpPr>
          <p:nvPr>
            <p:ph type="sldNum" sz="quarter" idx="12"/>
          </p:nvPr>
        </p:nvSpPr>
        <p:spPr/>
        <p:txBody>
          <a:bodyPr/>
          <a:lstStyle/>
          <a:p>
            <a:fld id="{FA00FD27-8DB0-4CB2-BD37-BEA95C6A1008}" type="slidenum">
              <a:rPr lang="en-IN" smtClean="0"/>
              <a:pPr/>
              <a:t>2</a:t>
            </a:fld>
            <a:endParaRPr lang="en-IN"/>
          </a:p>
        </p:txBody>
      </p:sp>
      <p:sp>
        <p:nvSpPr>
          <p:cNvPr id="4" name="Title 1"/>
          <p:cNvSpPr txBox="1"/>
          <p:nvPr/>
        </p:nvSpPr>
        <p:spPr>
          <a:xfrm>
            <a:off x="457200" y="571642"/>
            <a:ext cx="8183366" cy="72614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anose="02020603050405020304" pitchFamily="18" charset="0"/>
                <a:cs typeface="Times New Roman" panose="02020603050405020304" pitchFamily="18" charset="0"/>
              </a:rPr>
              <a:t>AGENDA</a:t>
            </a:r>
            <a:endParaRPr lang="en-IN" b="1" dirty="0">
              <a:latin typeface="Times New Roman" panose="02020603050405020304" pitchFamily="18" charset="0"/>
              <a:cs typeface="Times New Roman" panose="02020603050405020304" pitchFamily="18" charset="0"/>
            </a:endParaRPr>
          </a:p>
        </p:txBody>
      </p:sp>
      <p:sp>
        <p:nvSpPr>
          <p:cNvPr id="6" name="Content Placeholder 2"/>
          <p:cNvSpPr txBox="1"/>
          <p:nvPr/>
        </p:nvSpPr>
        <p:spPr>
          <a:xfrm>
            <a:off x="457200" y="1340768"/>
            <a:ext cx="8229600" cy="4525963"/>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en-IN" sz="2400" dirty="0">
                <a:latin typeface="Times New Roman" panose="02020603050405020304" pitchFamily="18" charset="0"/>
                <a:cs typeface="Times New Roman" panose="02020603050405020304" pitchFamily="18" charset="0"/>
              </a:rPr>
              <a:t>ABSTRACT</a:t>
            </a:r>
          </a:p>
          <a:p>
            <a:pPr>
              <a:lnSpc>
                <a:spcPct val="150000"/>
              </a:lnSpc>
            </a:pPr>
            <a:r>
              <a:rPr lang="en-IN" sz="2400" dirty="0">
                <a:latin typeface="Times New Roman" panose="02020603050405020304" pitchFamily="18" charset="0"/>
                <a:cs typeface="Times New Roman" panose="02020603050405020304" pitchFamily="18" charset="0"/>
              </a:rPr>
              <a:t>OBJECTIVE</a:t>
            </a:r>
          </a:p>
          <a:p>
            <a:pPr>
              <a:lnSpc>
                <a:spcPct val="150000"/>
              </a:lnSpc>
            </a:pPr>
            <a:r>
              <a:rPr lang="en-IN" sz="2400" dirty="0">
                <a:latin typeface="Times New Roman" panose="02020603050405020304" pitchFamily="18" charset="0"/>
                <a:cs typeface="Times New Roman" panose="02020603050405020304" pitchFamily="18" charset="0"/>
              </a:rPr>
              <a:t>INTRODUCTION</a:t>
            </a:r>
          </a:p>
          <a:p>
            <a:pPr>
              <a:lnSpc>
                <a:spcPct val="150000"/>
              </a:lnSpc>
            </a:pPr>
            <a:r>
              <a:rPr lang="en-IN" sz="2400" dirty="0">
                <a:latin typeface="Times New Roman" panose="02020603050405020304" pitchFamily="18" charset="0"/>
                <a:cs typeface="Times New Roman" panose="02020603050405020304" pitchFamily="18" charset="0"/>
              </a:rPr>
              <a:t>LITERATURE REVIEW</a:t>
            </a:r>
          </a:p>
          <a:p>
            <a:pPr>
              <a:lnSpc>
                <a:spcPct val="150000"/>
              </a:lnSpc>
            </a:pPr>
            <a:r>
              <a:rPr lang="en-IN" sz="2400" dirty="0">
                <a:latin typeface="Times New Roman" panose="02020603050405020304" pitchFamily="18" charset="0"/>
                <a:cs typeface="Times New Roman" panose="02020603050405020304" pitchFamily="18" charset="0"/>
              </a:rPr>
              <a:t>DESIGN AND METHODOLOGIES</a:t>
            </a:r>
          </a:p>
          <a:p>
            <a:pPr>
              <a:lnSpc>
                <a:spcPct val="150000"/>
              </a:lnSpc>
            </a:pPr>
            <a:r>
              <a:rPr lang="en-IN" sz="2400" dirty="0">
                <a:latin typeface="Times New Roman" panose="02020603050405020304" pitchFamily="18" charset="0"/>
                <a:cs typeface="Times New Roman" panose="02020603050405020304" pitchFamily="18" charset="0"/>
              </a:rPr>
              <a:t>IMPLEMENTATION</a:t>
            </a:r>
          </a:p>
          <a:p>
            <a:pPr>
              <a:lnSpc>
                <a:spcPct val="150000"/>
              </a:lnSpc>
            </a:pPr>
            <a:r>
              <a:rPr lang="en-IN" sz="2400" dirty="0">
                <a:latin typeface="Times New Roman" panose="02020603050405020304" pitchFamily="18" charset="0"/>
                <a:cs typeface="Times New Roman" panose="02020603050405020304" pitchFamily="18" charset="0"/>
              </a:rPr>
              <a:t>CONCLUSION</a:t>
            </a:r>
          </a:p>
          <a:p>
            <a:pPr>
              <a:lnSpc>
                <a:spcPct val="150000"/>
              </a:lnSpc>
            </a:pPr>
            <a:r>
              <a:rPr lang="en-IN" sz="2400" dirty="0">
                <a:latin typeface="Times New Roman" panose="02020603050405020304" pitchFamily="18" charset="0"/>
                <a:cs typeface="Times New Roman" panose="02020603050405020304" pitchFamily="18" charset="0"/>
              </a:rPr>
              <a:t>REFERENCES</a:t>
            </a:r>
          </a:p>
        </p:txBody>
      </p:sp>
      <p:sp>
        <p:nvSpPr>
          <p:cNvPr id="8" name="Text Box 7"/>
          <p:cNvSpPr txBox="1"/>
          <p:nvPr/>
        </p:nvSpPr>
        <p:spPr>
          <a:xfrm>
            <a:off x="8772525" y="6461760"/>
            <a:ext cx="309880" cy="368300"/>
          </a:xfrm>
          <a:prstGeom prst="rect">
            <a:avLst/>
          </a:prstGeom>
          <a:noFill/>
        </p:spPr>
        <p:txBody>
          <a:bodyPr wrap="none" rtlCol="0">
            <a:spAutoFit/>
          </a:bodyPr>
          <a:lstStyle/>
          <a:p>
            <a:endParaRPr lang="en-US"/>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down)">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down)">
                                      <p:cBhvr>
                                        <p:cTn id="42" dur="500"/>
                                        <p:tgtEl>
                                          <p:spTgt spid="6">
                                            <p:txEl>
                                              <p:pRg st="7" end="7"/>
                                            </p:txEl>
                                          </p:spTgt>
                                        </p:tgtEl>
                                      </p:cBhvr>
                                    </p:animEffect>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9085"/>
            <a:ext cx="8229600" cy="1039091"/>
          </a:xfrm>
        </p:spPr>
        <p:txBody>
          <a:bodyPr>
            <a:normAutofit/>
          </a:bodyPr>
          <a:lstStyle/>
          <a:p>
            <a:r>
              <a:rPr lang="en-IN" sz="24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457200" y="1537970"/>
            <a:ext cx="8458200" cy="5159375"/>
          </a:xfrm>
        </p:spPr>
        <p:txBody>
          <a:bodyPr>
            <a:noAutofit/>
          </a:bodyPr>
          <a:lstStyle/>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Brain cancer is a fatal disease with little chance of survival. One of the most important tasks of neurologists and radiologists is detecting brain tumors.</a:t>
            </a:r>
          </a:p>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a:t>
            </a:r>
            <a:r>
              <a:rPr lang="en-US" spc="-100" dirty="0">
                <a:solidFill>
                  <a:schemeClr val="tx1"/>
                </a:solidFill>
                <a:uFillTx/>
                <a:latin typeface="Times New Roman" panose="02020603050405020304" pitchFamily="18" charset="0"/>
                <a:cs typeface="Times New Roman" panose="02020603050405020304" pitchFamily="18" charset="0"/>
              </a:rPr>
              <a:t>Brain tumors can be malignant (cancerous) or benign (noncancerous) and can affect children and adults. However, whether a brain tumor is cancerous or not, it can affect how the brain works if it becomes large enough to compress surrounding tissue.</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MRI is the most common method for diagnosing brain tumors. Brain tumor segmentation using the U-Net uses more layered structure to autonomously and accurately determine the size and location of brain tumors from MRI.</a:t>
            </a:r>
            <a:endParaRPr lang="en-IN"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9BEE4593-0D8E-4444-A56B-222217CE2EFB}" type="datetime1">
              <a:rPr lang="en-IN" smtClean="0"/>
              <a:pPr/>
              <a:t>06-05-2023</a:t>
            </a:fld>
            <a:endParaRPr lang="en-IN"/>
          </a:p>
        </p:txBody>
      </p:sp>
      <p:sp>
        <p:nvSpPr>
          <p:cNvPr id="4" name="Footer Placeholder 3"/>
          <p:cNvSpPr>
            <a:spLocks noGrp="1"/>
          </p:cNvSpPr>
          <p:nvPr>
            <p:ph type="ftr" sz="quarter" idx="11"/>
          </p:nvPr>
        </p:nvSpPr>
        <p:spPr>
          <a:xfrm>
            <a:off x="685800" y="6344793"/>
            <a:ext cx="6838528" cy="252559"/>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3</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08" y="188640"/>
            <a:ext cx="7772400" cy="1609344"/>
          </a:xfrm>
        </p:spPr>
        <p:txBody>
          <a:bodyPr/>
          <a:lstStyle/>
          <a:p>
            <a:r>
              <a:rPr lang="en-IN" sz="2400" b="1" dirty="0">
                <a:latin typeface="Times New Roman" panose="02020603050405020304" pitchFamily="18" charset="0"/>
                <a:cs typeface="Times New Roman" panose="02020603050405020304" pitchFamily="18" charset="0"/>
              </a:rPr>
              <a:t>OBJECTIVES</a:t>
            </a:r>
            <a:r>
              <a:rPr lang="en-IN" dirty="0"/>
              <a:t> </a:t>
            </a:r>
          </a:p>
        </p:txBody>
      </p:sp>
      <p:sp>
        <p:nvSpPr>
          <p:cNvPr id="3" name="Content Placeholder 2"/>
          <p:cNvSpPr>
            <a:spLocks noGrp="1"/>
          </p:cNvSpPr>
          <p:nvPr>
            <p:ph idx="1"/>
          </p:nvPr>
        </p:nvSpPr>
        <p:spPr>
          <a:xfrm>
            <a:off x="467544" y="1403604"/>
            <a:ext cx="7772400" cy="4761700"/>
          </a:xfrm>
        </p:spPr>
        <p:txBody>
          <a:bodyPr>
            <a:noAutofit/>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Aim of the Project:</a:t>
            </a:r>
          </a:p>
          <a:p>
            <a:pPr marL="0" indent="0" algn="just">
              <a:lnSpc>
                <a:spcPct val="150000"/>
              </a:lnSpc>
              <a:buNone/>
            </a:pP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main goal of this project is to find brain tumors with high accuracy using an optimized u-net architecture. It can even help the people who are at the earlier stage by detecting the location and extension of the tumor regions. </a:t>
            </a:r>
            <a:endParaRPr lang="en-IN" b="1" dirty="0">
              <a:latin typeface="Times New Roman" panose="02020603050405020304" pitchFamily="18" charset="0"/>
              <a:cs typeface="Times New Roman" panose="02020603050405020304" pitchFamily="18" charset="0"/>
            </a:endParaRPr>
          </a:p>
          <a:p>
            <a:pPr marL="0" indent="0" algn="just">
              <a:lnSpc>
                <a:spcPct val="150000"/>
              </a:lnSpc>
              <a:buNone/>
            </a:pPr>
            <a:r>
              <a:rPr lang="en-US" b="1" dirty="0">
                <a:latin typeface="Times New Roman" panose="02020603050405020304" pitchFamily="18" charset="0"/>
                <a:cs typeface="Times New Roman" panose="02020603050405020304" pitchFamily="18" charset="0"/>
              </a:rPr>
              <a:t>Scope of the Project:</a:t>
            </a:r>
          </a:p>
          <a:p>
            <a:pPr marL="0" indent="0" algn="just">
              <a:lnSpc>
                <a:spcPct val="150000"/>
              </a:lnSpc>
              <a:buNone/>
            </a:pPr>
            <a:r>
              <a:rPr lang="en-US" dirty="0">
                <a:latin typeface="Times New Roman" panose="02020603050405020304" pitchFamily="18" charset="0"/>
                <a:cs typeface="Times New Roman" panose="02020603050405020304" pitchFamily="18" charset="0"/>
              </a:rPr>
              <a:t> 	The scope of brain tumor segmentation using U-Net architecture is to accurately describe the brain tumor site with creating mask to MRI images.</a:t>
            </a: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CBBD127-996A-4642-9EFF-AA98AF31AED5}" type="datetime1">
              <a:rPr lang="en-IN" smtClean="0"/>
              <a:pPr/>
              <a:t>06-05-2023</a:t>
            </a:fld>
            <a:endParaRPr lang="en-IN"/>
          </a:p>
        </p:txBody>
      </p:sp>
      <p:sp>
        <p:nvSpPr>
          <p:cNvPr id="4" name="Footer Placeholder 3"/>
          <p:cNvSpPr>
            <a:spLocks noGrp="1"/>
          </p:cNvSpPr>
          <p:nvPr>
            <p:ph type="ftr" sz="quarter" idx="11"/>
          </p:nvPr>
        </p:nvSpPr>
        <p:spPr>
          <a:xfrm>
            <a:off x="685800" y="6272785"/>
            <a:ext cx="6766520" cy="365125"/>
          </a:xfrm>
        </p:spPr>
        <p:txBody>
          <a:bodyPr/>
          <a:lstStyle/>
          <a:p>
            <a:r>
              <a:rPr lang="en-IN" dirty="0"/>
              <a:t>BATCH NO:  36                                          DEPARTMENT OF COMPUTER SCIENCE &amp; ENGINEERING  </a:t>
            </a:r>
          </a:p>
        </p:txBody>
      </p:sp>
      <p:sp>
        <p:nvSpPr>
          <p:cNvPr id="5" name="Slide Number Placeholder 4"/>
          <p:cNvSpPr>
            <a:spLocks noGrp="1"/>
          </p:cNvSpPr>
          <p:nvPr>
            <p:ph type="sldNum" sz="quarter" idx="12"/>
          </p:nvPr>
        </p:nvSpPr>
        <p:spPr/>
        <p:txBody>
          <a:bodyPr/>
          <a:lstStyle/>
          <a:p>
            <a:fld id="{FA00FD27-8DB0-4CB2-BD37-BEA95C6A1008}"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1080120"/>
          </a:xfrm>
        </p:spPr>
        <p:txBody>
          <a:bodyPr>
            <a:normAutofit/>
          </a:bodyPr>
          <a:lstStyle/>
          <a:p>
            <a:r>
              <a:rPr lang="en-US" sz="24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9D9CC52F-1A39-45FF-BF4F-DC6B8923C628}" type="datetime1">
              <a:rPr lang="en-IN" smtClean="0"/>
              <a:pPr/>
              <a:t>06-05-2023</a:t>
            </a:fld>
            <a:endParaRPr lang="en-IN"/>
          </a:p>
        </p:txBody>
      </p:sp>
      <p:sp>
        <p:nvSpPr>
          <p:cNvPr id="4" name="Footer Placeholder 3"/>
          <p:cNvSpPr>
            <a:spLocks noGrp="1"/>
          </p:cNvSpPr>
          <p:nvPr>
            <p:ph type="ftr" sz="quarter" idx="11"/>
          </p:nvPr>
        </p:nvSpPr>
        <p:spPr>
          <a:xfrm>
            <a:off x="685800" y="6272785"/>
            <a:ext cx="6694512"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5</a:t>
            </a:fld>
            <a:endParaRPr lang="en-IN"/>
          </a:p>
        </p:txBody>
      </p:sp>
      <p:sp>
        <p:nvSpPr>
          <p:cNvPr id="7" name="Text Box 6"/>
          <p:cNvSpPr txBox="1"/>
          <p:nvPr/>
        </p:nvSpPr>
        <p:spPr>
          <a:xfrm>
            <a:off x="467995" y="1557020"/>
            <a:ext cx="8258175" cy="5125720"/>
          </a:xfrm>
          <a:prstGeom prst="rect">
            <a:avLst/>
          </a:prstGeom>
          <a:noFill/>
        </p:spPr>
        <p:txBody>
          <a:bodyPr wrap="square" rtlCol="0">
            <a:spAutoFit/>
          </a:bodyPr>
          <a:lstStyle/>
          <a:p>
            <a:pPr marL="285750" indent="-285750" algn="just">
              <a:lnSpc>
                <a:spcPct val="140000"/>
              </a:lnSpc>
              <a:buClr>
                <a:srgbClr val="9B2D1F"/>
              </a:buClr>
              <a:buFont typeface="Wingdings" panose="05000000000000000000" charset="0"/>
              <a:buChar char="Ø"/>
            </a:pPr>
            <a:r>
              <a:rPr lang="en-US">
                <a:latin typeface="Times New Roman" panose="02020603050405020304" pitchFamily="18" charset="0"/>
                <a:cs typeface="Times New Roman" panose="02020603050405020304" pitchFamily="18" charset="0"/>
              </a:rPr>
              <a:t>Over the past few decades, the field of medical imaging has undergone a revolution with the application of machine learning and deep learning algorithms for the segmentation, identification, and prediction of patient survival from tumors or other diseases. </a:t>
            </a:r>
          </a:p>
          <a:p>
            <a:pPr marL="285750" indent="-285750" algn="just">
              <a:lnSpc>
                <a:spcPct val="140000"/>
              </a:lnSpc>
              <a:buClr>
                <a:srgbClr val="9B2D1F"/>
              </a:buClr>
              <a:buFont typeface="Wingdings" panose="05000000000000000000" charset="0"/>
              <a:buChar char="Ø"/>
            </a:pPr>
            <a:r>
              <a:rPr lang="en-US">
                <a:latin typeface="Times New Roman" panose="02020603050405020304" pitchFamily="18" charset="0"/>
                <a:cs typeface="Times New Roman" panose="02020603050405020304" pitchFamily="18" charset="0"/>
              </a:rPr>
              <a:t>In addition, it helps doctors make an early diagnosis of malignant brain tumors, thus improving the prognosis. Gliomas occur most often in adults and are thought to arise from glial cells and invade adjacent tissues. </a:t>
            </a:r>
          </a:p>
          <a:p>
            <a:pPr marL="285750" indent="-285750" algn="just">
              <a:lnSpc>
                <a:spcPct val="140000"/>
              </a:lnSpc>
              <a:buClr>
                <a:srgbClr val="9B2D1F"/>
              </a:buClr>
              <a:buFont typeface="Wingdings" panose="05000000000000000000" charset="0"/>
              <a:buChar char="Ø"/>
            </a:pPr>
            <a:r>
              <a:rPr lang="en-US">
                <a:latin typeface="Times New Roman" panose="02020603050405020304" pitchFamily="18" charset="0"/>
                <a:cs typeface="Times New Roman" panose="02020603050405020304" pitchFamily="18" charset="0"/>
              </a:rPr>
              <a:t>The primary brain tumor is a glioma. High-Grade Glioblastoma (HGG) and Low-Grade Glioblastoma (LGG) are two other subtypes of glioma. While radiologists manually reviewed Magnetic Resonance Imaging (MRI) modalities to generate quantitative information, segmentation of 3D modalities is cumbersome, with variations and errors. </a:t>
            </a:r>
          </a:p>
          <a:p>
            <a:pPr marL="285750" indent="-285750" algn="just">
              <a:lnSpc>
                <a:spcPct val="140000"/>
              </a:lnSpc>
              <a:buClr>
                <a:srgbClr val="9B2D1F"/>
              </a:buClr>
              <a:buFont typeface="Wingdings" panose="05000000000000000000" charset="0"/>
              <a:buChar char="Ø"/>
            </a:pP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28775"/>
            <a:ext cx="8219440" cy="4050665"/>
          </a:xfrm>
        </p:spPr>
        <p:txBody>
          <a:bodyPr/>
          <a:lstStyle/>
          <a:p>
            <a:pPr algn="just">
              <a:lnSpc>
                <a:spcPct val="140000"/>
              </a:lnSpc>
              <a:buFont typeface="Wingdings" panose="05000000000000000000" charset="0"/>
              <a:buChar char="Ø"/>
            </a:pPr>
            <a:r>
              <a:rPr lang="en-US" sz="1800">
                <a:latin typeface="Times New Roman" panose="02020603050405020304" pitchFamily="18" charset="0"/>
                <a:cs typeface="Times New Roman" panose="02020603050405020304" pitchFamily="18" charset="0"/>
                <a:sym typeface="+mn-ea"/>
              </a:rPr>
              <a:t>This challenge is further heightened if tumors vary in size, shape, and location. Tumor-like cells can appear anywhere in brain tissue and can vary in size, appearance, and shape, and it is difficult to automatically segment brain tumors and their subregions. CNNs of different architectures have and use automatic segmentation. </a:t>
            </a:r>
          </a:p>
          <a:p>
            <a:pPr algn="just">
              <a:lnSpc>
                <a:spcPct val="140000"/>
              </a:lnSpc>
              <a:buFont typeface="Wingdings" panose="05000000000000000000" charset="0"/>
              <a:buChar char="Ø"/>
            </a:pPr>
            <a:r>
              <a:rPr lang="en-US" sz="1800">
                <a:latin typeface="Times New Roman" panose="02020603050405020304" pitchFamily="18" charset="0"/>
                <a:cs typeface="Times New Roman" panose="02020603050405020304" pitchFamily="18" charset="0"/>
                <a:sym typeface="+mn-ea"/>
              </a:rPr>
              <a:t>We made the U-NET architecture model to help physicians improve their performance by performing initial analyses with the automatic and intelligent systems provided.</a:t>
            </a:r>
            <a:endParaRPr lang="en-US" sz="1800">
              <a:latin typeface="Times New Roman" panose="02020603050405020304" pitchFamily="18" charset="0"/>
              <a:cs typeface="Times New Roman" panose="02020603050405020304" pitchFamily="18" charset="0"/>
            </a:endParaRPr>
          </a:p>
          <a:p>
            <a:pPr>
              <a:lnSpc>
                <a:spcPct val="140000"/>
              </a:lnSpc>
              <a:buFont typeface="Wingdings" panose="05000000000000000000" charset="0"/>
              <a:buChar char="Ø"/>
            </a:pPr>
            <a:endParaRPr lang="en-US" sz="1800"/>
          </a:p>
        </p:txBody>
      </p:sp>
      <p:sp>
        <p:nvSpPr>
          <p:cNvPr id="4" name="Date Placeholder 3"/>
          <p:cNvSpPr>
            <a:spLocks noGrp="1"/>
          </p:cNvSpPr>
          <p:nvPr>
            <p:ph type="dt" sz="half" idx="10"/>
          </p:nvPr>
        </p:nvSpPr>
        <p:spPr/>
        <p:txBody>
          <a:bodyPr/>
          <a:lstStyle/>
          <a:p>
            <a:fld id="{29B7F2CF-3883-4F4C-B632-6E38E4E094B5}" type="datetime1">
              <a:rPr lang="en-IN" smtClean="0"/>
              <a:pPr/>
              <a:t>06-05-2023</a:t>
            </a:fld>
            <a:endParaRPr lang="en-IN"/>
          </a:p>
        </p:txBody>
      </p:sp>
      <p:sp>
        <p:nvSpPr>
          <p:cNvPr id="5" name="Footer Placeholder 4"/>
          <p:cNvSpPr>
            <a:spLocks noGrp="1"/>
          </p:cNvSpPr>
          <p:nvPr>
            <p:ph type="ftr" sz="quarter" idx="11"/>
          </p:nvPr>
        </p:nvSpPr>
        <p:spPr/>
        <p:txBody>
          <a:bodyPr/>
          <a:lstStyle/>
          <a:p>
            <a:r>
              <a:rPr lang="en-IN"/>
              <a:t>BATCH NO: </a:t>
            </a:r>
            <a:r>
              <a:rPr lang="en-US" altLang="en-IN"/>
              <a:t>36</a:t>
            </a:r>
            <a:r>
              <a:rPr lang="en-IN"/>
              <a:t>       DEPARTMENT OF COMPUTER SCIENCE &amp; ENGINEERING</a:t>
            </a:r>
          </a:p>
        </p:txBody>
      </p:sp>
      <p:sp>
        <p:nvSpPr>
          <p:cNvPr id="6" name="Slide Number Placeholder 5"/>
          <p:cNvSpPr>
            <a:spLocks noGrp="1"/>
          </p:cNvSpPr>
          <p:nvPr>
            <p:ph type="sldNum" sz="quarter" idx="12"/>
          </p:nvPr>
        </p:nvSpPr>
        <p:spPr/>
        <p:txBody>
          <a:bodyPr/>
          <a:lstStyle/>
          <a:p>
            <a:fld id="{FA00FD27-8DB0-4CB2-BD37-BEA95C6A1008}" type="slidenum">
              <a:rPr lang="en-IN" smtClean="0"/>
              <a:pPr/>
              <a:t>6</a:t>
            </a:fld>
            <a:endParaRPr lang="en-IN"/>
          </a:p>
        </p:txBody>
      </p:sp>
      <p:sp>
        <p:nvSpPr>
          <p:cNvPr id="7" name="Title 6"/>
          <p:cNvSpPr>
            <a:spLocks noGrp="1"/>
          </p:cNvSpPr>
          <p:nvPr>
            <p:ph type="title"/>
          </p:nvPr>
        </p:nvSpPr>
        <p:spPr>
          <a:xfrm>
            <a:off x="457200" y="548680"/>
            <a:ext cx="8229600" cy="1080120"/>
          </a:xfrm>
        </p:spPr>
        <p:txBody>
          <a:bodyPr>
            <a:normAutofit/>
          </a:bodyPr>
          <a:lstStyle/>
          <a:p>
            <a:r>
              <a:rPr lang="en-US" sz="2400" b="1"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12107"/>
            <a:ext cx="8229600" cy="1368152"/>
          </a:xfrm>
        </p:spPr>
        <p:txBody>
          <a:bodyPr>
            <a:normAutofit/>
          </a:bodyPr>
          <a:lstStyle/>
          <a:p>
            <a:r>
              <a:rPr lang="en-IN" sz="2400" b="1" dirty="0">
                <a:latin typeface="Times New Roman" panose="02020603050405020304" pitchFamily="18" charset="0"/>
                <a:cs typeface="Times New Roman" panose="02020603050405020304" pitchFamily="18" charset="0"/>
              </a:rPr>
              <a:t>LITERATURE REVIEW</a:t>
            </a:r>
            <a:endParaRPr lang="en-US" sz="2400" b="1" dirty="0"/>
          </a:p>
        </p:txBody>
      </p:sp>
      <p:sp>
        <p:nvSpPr>
          <p:cNvPr id="2" name="Content Placeholder 1"/>
          <p:cNvSpPr>
            <a:spLocks noGrp="1"/>
          </p:cNvSpPr>
          <p:nvPr>
            <p:ph idx="1"/>
          </p:nvPr>
        </p:nvSpPr>
        <p:spPr>
          <a:xfrm>
            <a:off x="447040" y="1484630"/>
            <a:ext cx="8425180" cy="1663065"/>
          </a:xfrm>
        </p:spPr>
        <p:txBody>
          <a:bodyPr>
            <a:noAutofit/>
          </a:bodyPr>
          <a:lstStyle/>
          <a:p>
            <a:pPr marL="0" indent="0" algn="just" fontAlgn="auto">
              <a:lnSpc>
                <a:spcPct val="150000"/>
              </a:lnSpc>
              <a:spcBef>
                <a:spcPts val="1000"/>
              </a:spcBef>
              <a:buNone/>
            </a:pPr>
            <a:r>
              <a:rPr lang="en-US" b="1" u="none" strike="noStrike" baseline="0" dirty="0">
                <a:latin typeface="Times New Roman" panose="02020603050405020304" pitchFamily="18" charset="0"/>
                <a:cs typeface="Times New Roman" panose="02020603050405020304" pitchFamily="18" charset="0"/>
              </a:rPr>
              <a:t>1.</a:t>
            </a:r>
            <a:r>
              <a:rPr lang="en-US" b="1" u="none" strike="noStrike" baseline="0" dirty="0">
                <a:solidFill>
                  <a:srgbClr val="131413"/>
                </a:solidFill>
                <a:latin typeface="Times New Roman" panose="02020603050405020304" pitchFamily="18" charset="0"/>
                <a:cs typeface="Times New Roman" panose="02020603050405020304" pitchFamily="18" charset="0"/>
              </a:rPr>
              <a:t> Tejas Shelatkar, Dr. Urvashi,</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Mohammad Shorfuzzaman</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Abdulmajeed Alsufyani</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Kuruva Lakshmanna</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Diagnosis of Brain Tumor Using Light Weight Deep Learning Model with Fine-Tuning Approach”, </a:t>
            </a:r>
            <a:r>
              <a:rPr lang="en-US" b="1" u="none" strike="noStrike" baseline="0" dirty="0">
                <a:latin typeface="Times New Roman" panose="02020603050405020304" pitchFamily="18" charset="0"/>
                <a:cs typeface="Times New Roman" panose="02020603050405020304" pitchFamily="18" charset="0"/>
              </a:rPr>
              <a:t>Computational and Mathematical Methods in Medicine , 2022.</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p>
        </p:txBody>
      </p:sp>
      <p:sp>
        <p:nvSpPr>
          <p:cNvPr id="6" name="Date Placeholder 5"/>
          <p:cNvSpPr>
            <a:spLocks noGrp="1"/>
          </p:cNvSpPr>
          <p:nvPr>
            <p:ph type="dt" sz="half" idx="10"/>
          </p:nvPr>
        </p:nvSpPr>
        <p:spPr/>
        <p:txBody>
          <a:bodyPr/>
          <a:lstStyle/>
          <a:p>
            <a:fld id="{6895D223-330B-46C2-80AA-364D74E53CFC}" type="datetime1">
              <a:rPr lang="en-IN" smtClean="0"/>
              <a:pPr/>
              <a:t>06-05-2023</a:t>
            </a:fld>
            <a:endParaRPr lang="en-IN"/>
          </a:p>
        </p:txBody>
      </p:sp>
      <p:sp>
        <p:nvSpPr>
          <p:cNvPr id="3" name="Footer Placeholder 2"/>
          <p:cNvSpPr>
            <a:spLocks noGrp="1"/>
          </p:cNvSpPr>
          <p:nvPr>
            <p:ph type="ftr" sz="quarter" idx="11"/>
          </p:nvPr>
        </p:nvSpPr>
        <p:spPr>
          <a:xfrm>
            <a:off x="696468" y="6272785"/>
            <a:ext cx="6550496" cy="365125"/>
          </a:xfrm>
        </p:spPr>
        <p:txBody>
          <a:bodyPr/>
          <a:lstStyle/>
          <a:p>
            <a:r>
              <a:rPr lang="en-IN" dirty="0"/>
              <a:t>BATCH NO:  36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7</a:t>
            </a:fld>
            <a:endParaRPr lang="en-IN"/>
          </a:p>
        </p:txBody>
      </p:sp>
      <p:sp>
        <p:nvSpPr>
          <p:cNvPr id="7" name="TextBox 6"/>
          <p:cNvSpPr txBox="1"/>
          <p:nvPr/>
        </p:nvSpPr>
        <p:spPr>
          <a:xfrm>
            <a:off x="467544" y="3358256"/>
            <a:ext cx="8208912" cy="2999740"/>
          </a:xfrm>
          <a:prstGeom prst="rect">
            <a:avLst/>
          </a:prstGeom>
          <a:noFill/>
        </p:spPr>
        <p:txBody>
          <a:bodyPr wrap="square" rtlCol="0">
            <a:spAutoFit/>
          </a:body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applies different variations of the YOLOv5 algorithm to the Brats 2020 annotated dataset to detect the location of brain tumors.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was able to achieve 82-92% accuracy for YOLO variants, where the YOLOv5l model gave us better accuracy than YOLOv5n and YOLOv5s.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Object detection models for brain tumor analysis were slightly less accurate than classification and segmentation models. But we also observed a significant reduction in training time and model size.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32656"/>
            <a:ext cx="8229600" cy="1368152"/>
          </a:xfrm>
        </p:spPr>
        <p:txBody>
          <a:bodyPr>
            <a:normAutofit/>
          </a:bodyPr>
          <a:lstStyle/>
          <a:p>
            <a:r>
              <a:rPr lang="en-IN" sz="2400" b="1" dirty="0">
                <a:latin typeface="Times New Roman" panose="02020603050405020304" pitchFamily="18" charset="0"/>
                <a:cs typeface="Times New Roman" panose="02020603050405020304" pitchFamily="18" charset="0"/>
              </a:rPr>
              <a:t>LITERATURE REVIEW</a:t>
            </a:r>
            <a:endParaRPr lang="en-US" sz="2400" b="1" dirty="0"/>
          </a:p>
        </p:txBody>
      </p:sp>
      <p:sp>
        <p:nvSpPr>
          <p:cNvPr id="2" name="Content Placeholder 1"/>
          <p:cNvSpPr>
            <a:spLocks noGrp="1"/>
          </p:cNvSpPr>
          <p:nvPr>
            <p:ph idx="1"/>
          </p:nvPr>
        </p:nvSpPr>
        <p:spPr>
          <a:xfrm>
            <a:off x="467544" y="1484784"/>
            <a:ext cx="8208912" cy="1621225"/>
          </a:xfrm>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2</a:t>
            </a:r>
            <a:r>
              <a:rPr lang="en-US" b="1" u="none" strike="noStrike" baseline="0" dirty="0">
                <a:latin typeface="Times New Roman" panose="02020603050405020304" pitchFamily="18" charset="0"/>
                <a:cs typeface="Times New Roman" panose="02020603050405020304" pitchFamily="18" charset="0"/>
              </a:rPr>
              <a:t>. </a:t>
            </a:r>
            <a:r>
              <a:rPr lang="en-US" b="1" spc="-100" baseline="0" dirty="0">
                <a:solidFill>
                  <a:schemeClr val="tx1"/>
                </a:solidFill>
                <a:uFillTx/>
                <a:latin typeface="Times New Roman" panose="02020603050405020304" pitchFamily="18" charset="0"/>
                <a:cs typeface="Times New Roman" panose="02020603050405020304" pitchFamily="18" charset="0"/>
              </a:rPr>
              <a:t>Nahian Siddique, Sidike Paheding, Colin P. Elkin, Vijay Devabhatuni,</a:t>
            </a:r>
            <a:r>
              <a:rPr lang="en-US" b="1" spc="-100" dirty="0">
                <a:solidFill>
                  <a:schemeClr val="tx1"/>
                </a:solidFill>
                <a:uFillTx/>
                <a:latin typeface="Times New Roman" panose="02020603050405020304" pitchFamily="18" charset="0"/>
                <a:cs typeface="Times New Roman" panose="02020603050405020304" pitchFamily="18" charset="0"/>
              </a:rPr>
              <a:t> ”</a:t>
            </a:r>
            <a:r>
              <a:rPr lang="en-US" b="1" spc="-100" baseline="0" dirty="0">
                <a:solidFill>
                  <a:schemeClr val="tx1"/>
                </a:solidFill>
                <a:uFillTx/>
                <a:latin typeface="Times New Roman" panose="02020603050405020304" pitchFamily="18" charset="0"/>
                <a:cs typeface="Times New Roman" panose="02020603050405020304" pitchFamily="18" charset="0"/>
              </a:rPr>
              <a:t>U-Net and Its Variants for Medical Image Segmentation: A Review of Theory and Applications”, Digital Object Identifier, 2021.</a:t>
            </a:r>
          </a:p>
        </p:txBody>
      </p:sp>
      <p:sp>
        <p:nvSpPr>
          <p:cNvPr id="6" name="Date Placeholder 5"/>
          <p:cNvSpPr>
            <a:spLocks noGrp="1"/>
          </p:cNvSpPr>
          <p:nvPr>
            <p:ph type="dt" sz="half" idx="10"/>
          </p:nvPr>
        </p:nvSpPr>
        <p:spPr/>
        <p:txBody>
          <a:bodyPr/>
          <a:lstStyle/>
          <a:p>
            <a:fld id="{6895D223-330B-46C2-80AA-364D74E53CFC}" type="datetime1">
              <a:rPr lang="en-IN" smtClean="0"/>
              <a:pPr/>
              <a:t>06-05-2023</a:t>
            </a:fld>
            <a:endParaRPr lang="en-IN"/>
          </a:p>
        </p:txBody>
      </p:sp>
      <p:sp>
        <p:nvSpPr>
          <p:cNvPr id="3" name="Footer Placeholder 2"/>
          <p:cNvSpPr>
            <a:spLocks noGrp="1"/>
          </p:cNvSpPr>
          <p:nvPr>
            <p:ph type="ftr" sz="quarter" idx="11"/>
          </p:nvPr>
        </p:nvSpPr>
        <p:spPr>
          <a:xfrm>
            <a:off x="696468" y="6272785"/>
            <a:ext cx="6550496" cy="365125"/>
          </a:xfrm>
        </p:spPr>
        <p:txBody>
          <a:bodyPr/>
          <a:lstStyle/>
          <a:p>
            <a:r>
              <a:rPr lang="en-IN" dirty="0"/>
              <a:t>BATCH NO:  36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8</a:t>
            </a:fld>
            <a:endParaRPr lang="en-IN"/>
          </a:p>
        </p:txBody>
      </p:sp>
      <p:sp>
        <p:nvSpPr>
          <p:cNvPr id="7" name="TextBox 6"/>
          <p:cNvSpPr txBox="1"/>
          <p:nvPr/>
        </p:nvSpPr>
        <p:spPr>
          <a:xfrm>
            <a:off x="457200" y="2924944"/>
            <a:ext cx="8219256" cy="2584450"/>
          </a:xfrm>
          <a:prstGeom prst="rect">
            <a:avLst/>
          </a:prstGeom>
          <a:noFill/>
        </p:spPr>
        <p:txBody>
          <a:bodyPr wrap="square" rtlCol="0">
            <a:spAutoFit/>
          </a:body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aims to provide a starting point for researchers wishing to explore U-net, a powerful deep learning model widely used in medical image segmentation.</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explores the many variations of the U-net and its various applications through multiple imaging modalities.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explores the main deep learning methods and their areas of application from all the articles in this survey.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12107"/>
            <a:ext cx="8229600" cy="1368152"/>
          </a:xfrm>
        </p:spPr>
        <p:txBody>
          <a:bodyPr>
            <a:normAutofit/>
          </a:bodyPr>
          <a:lstStyle/>
          <a:p>
            <a:r>
              <a:rPr lang="en-IN" sz="2400" b="1" dirty="0">
                <a:latin typeface="Times New Roman" panose="02020603050405020304" pitchFamily="18" charset="0"/>
                <a:cs typeface="Times New Roman" panose="02020603050405020304" pitchFamily="18" charset="0"/>
              </a:rPr>
              <a:t>LITERATURE REVIEW</a:t>
            </a:r>
            <a:endParaRPr lang="en-US" sz="2400" b="1" dirty="0"/>
          </a:p>
        </p:txBody>
      </p:sp>
      <p:sp>
        <p:nvSpPr>
          <p:cNvPr id="2" name="Content Placeholder 1"/>
          <p:cNvSpPr>
            <a:spLocks noGrp="1"/>
          </p:cNvSpPr>
          <p:nvPr>
            <p:ph idx="1"/>
          </p:nvPr>
        </p:nvSpPr>
        <p:spPr>
          <a:xfrm>
            <a:off x="467544" y="1484784"/>
            <a:ext cx="8229600" cy="1663149"/>
          </a:xfrm>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3</a:t>
            </a:r>
            <a:r>
              <a:rPr lang="en-US" b="1" u="none" strike="noStrike" baseline="0" dirty="0">
                <a:latin typeface="Times New Roman" panose="02020603050405020304" pitchFamily="18" charset="0"/>
                <a:cs typeface="Times New Roman" panose="02020603050405020304" pitchFamily="18" charset="0"/>
              </a:rPr>
              <a:t>. Samia Mushtaq, Apash Roy, Tawseef Ahmed Teli, “A Comparative Study on Various Machine Learning Techniques for Brain Tumor Detection Using MRI”, Global Emerging Innovation Summit, 2021.</a:t>
            </a:r>
          </a:p>
          <a:p>
            <a:pPr marL="0" indent="0">
              <a:buNone/>
            </a:pPr>
            <a:endParaRPr lang="en-US" b="1" dirty="0"/>
          </a:p>
        </p:txBody>
      </p:sp>
      <p:sp>
        <p:nvSpPr>
          <p:cNvPr id="6" name="Date Placeholder 5"/>
          <p:cNvSpPr>
            <a:spLocks noGrp="1"/>
          </p:cNvSpPr>
          <p:nvPr>
            <p:ph type="dt" sz="half" idx="10"/>
          </p:nvPr>
        </p:nvSpPr>
        <p:spPr/>
        <p:txBody>
          <a:bodyPr/>
          <a:lstStyle/>
          <a:p>
            <a:fld id="{6895D223-330B-46C2-80AA-364D74E53CFC}" type="datetime1">
              <a:rPr lang="en-IN" smtClean="0"/>
              <a:pPr/>
              <a:t>06-05-2023</a:t>
            </a:fld>
            <a:endParaRPr lang="en-IN"/>
          </a:p>
        </p:txBody>
      </p:sp>
      <p:sp>
        <p:nvSpPr>
          <p:cNvPr id="3" name="Footer Placeholder 2"/>
          <p:cNvSpPr>
            <a:spLocks noGrp="1"/>
          </p:cNvSpPr>
          <p:nvPr>
            <p:ph type="ftr" sz="quarter" idx="11"/>
          </p:nvPr>
        </p:nvSpPr>
        <p:spPr>
          <a:xfrm>
            <a:off x="696468" y="6272785"/>
            <a:ext cx="6550496" cy="365125"/>
          </a:xfrm>
        </p:spPr>
        <p:txBody>
          <a:bodyPr/>
          <a:lstStyle/>
          <a:p>
            <a:r>
              <a:rPr lang="en-IN" dirty="0"/>
              <a:t>BATCH NO:  36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9</a:t>
            </a:fld>
            <a:endParaRPr lang="en-IN"/>
          </a:p>
        </p:txBody>
      </p:sp>
      <p:sp>
        <p:nvSpPr>
          <p:cNvPr id="7" name="TextBox 6"/>
          <p:cNvSpPr txBox="1"/>
          <p:nvPr/>
        </p:nvSpPr>
        <p:spPr>
          <a:xfrm>
            <a:off x="467544" y="3142232"/>
            <a:ext cx="8219256" cy="2999740"/>
          </a:xfrm>
          <a:prstGeom prst="rect">
            <a:avLst/>
          </a:prstGeom>
          <a:noFill/>
        </p:spPr>
        <p:txBody>
          <a:bodyPr wrap="square" rtlCol="0">
            <a:spAutoFit/>
          </a:body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This shows some machine learning techniques and a comparative analysis of the current literature was performed. To understand the benefits of using deep learning methods such as convolutional neural networks, compare the performance of ANNs and CNNs.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The performance difference clearly demonstrates that CNNs work even on unbalanced datasets without any proper preprocessing consideration.</a:t>
            </a:r>
            <a:br>
              <a:rPr lang="en-US" i="0" dirty="0">
                <a:solidFill>
                  <a:srgbClr val="000000"/>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3068960"/>
            <a:ext cx="8136904" cy="2952328"/>
          </a:xfrm>
        </p:spPr>
        <p:txBody>
          <a:bodyPr>
            <a:noAutofit/>
          </a:bodyPr>
          <a:lstStyle/>
          <a:p>
            <a:pPr algn="just">
              <a:lnSpc>
                <a:spcPct val="16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It presented a survey on the four most dangerous brain disease detection processes using machine and deep learning. The survey reveals some important insights into contemporary ML/DL techniques in the medical field used in today’s brain disorder research</a:t>
            </a:r>
          </a:p>
          <a:p>
            <a:pPr algn="just">
              <a:lnSpc>
                <a:spcPct val="16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With the passage of time, identification, feature extraction, and classification methods are becoming more challenging in the field of ML and DL.</a:t>
            </a:r>
          </a:p>
        </p:txBody>
      </p:sp>
      <p:sp>
        <p:nvSpPr>
          <p:cNvPr id="4" name="Date Placeholder 3"/>
          <p:cNvSpPr>
            <a:spLocks noGrp="1"/>
          </p:cNvSpPr>
          <p:nvPr>
            <p:ph type="dt" sz="half" idx="10"/>
          </p:nvPr>
        </p:nvSpPr>
        <p:spPr/>
        <p:txBody>
          <a:bodyPr/>
          <a:lstStyle/>
          <a:p>
            <a:fld id="{29B7F2CF-3883-4F4C-B632-6E38E4E094B5}" type="datetime1">
              <a:rPr lang="en-IN" smtClean="0"/>
              <a:pPr/>
              <a:t>06-05-2023</a:t>
            </a:fld>
            <a:endParaRPr lang="en-IN"/>
          </a:p>
        </p:txBody>
      </p:sp>
      <p:sp>
        <p:nvSpPr>
          <p:cNvPr id="5" name="Footer Placeholder 4"/>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6" name="Slide Number Placeholder 5"/>
          <p:cNvSpPr>
            <a:spLocks noGrp="1"/>
          </p:cNvSpPr>
          <p:nvPr>
            <p:ph type="sldNum" sz="quarter" idx="12"/>
          </p:nvPr>
        </p:nvSpPr>
        <p:spPr/>
        <p:txBody>
          <a:bodyPr/>
          <a:lstStyle/>
          <a:p>
            <a:fld id="{FA00FD27-8DB0-4CB2-BD37-BEA95C6A1008}" type="slidenum">
              <a:rPr lang="en-IN" smtClean="0"/>
              <a:pPr/>
              <a:t>10</a:t>
            </a:fld>
            <a:endParaRPr lang="en-IN"/>
          </a:p>
        </p:txBody>
      </p:sp>
      <p:sp>
        <p:nvSpPr>
          <p:cNvPr id="7" name="Title 4"/>
          <p:cNvSpPr>
            <a:spLocks noGrp="1"/>
          </p:cNvSpPr>
          <p:nvPr>
            <p:ph type="title"/>
          </p:nvPr>
        </p:nvSpPr>
        <p:spPr>
          <a:xfrm>
            <a:off x="457200" y="332656"/>
            <a:ext cx="8229600" cy="1368152"/>
          </a:xfrm>
        </p:spPr>
        <p:txBody>
          <a:bodyPr>
            <a:normAutofit/>
          </a:bodyPr>
          <a:lstStyle/>
          <a:p>
            <a:r>
              <a:rPr lang="en-IN" sz="2400" b="1" dirty="0">
                <a:latin typeface="Times New Roman" panose="02020603050405020304" pitchFamily="18" charset="0"/>
                <a:cs typeface="Times New Roman" panose="02020603050405020304" pitchFamily="18" charset="0"/>
              </a:rPr>
              <a:t>LITERATURE REVIEW</a:t>
            </a:r>
            <a:endParaRPr lang="en-US" sz="2400" b="1" dirty="0"/>
          </a:p>
        </p:txBody>
      </p:sp>
      <p:sp>
        <p:nvSpPr>
          <p:cNvPr id="8" name="Content Placeholder 1"/>
          <p:cNvSpPr txBox="1"/>
          <p:nvPr/>
        </p:nvSpPr>
        <p:spPr>
          <a:xfrm>
            <a:off x="457200" y="1496086"/>
            <a:ext cx="8229600" cy="1663149"/>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4. </a:t>
            </a:r>
            <a:r>
              <a:rPr lang="en-US" b="1" i="0" u="none" strike="noStrike" baseline="0" dirty="0">
                <a:solidFill>
                  <a:srgbClr val="131413"/>
                </a:solidFill>
                <a:latin typeface="Times New Roman" panose="02020603050405020304" pitchFamily="18" charset="0"/>
                <a:cs typeface="Times New Roman" panose="02020603050405020304" pitchFamily="18" charset="0"/>
              </a:rPr>
              <a:t>P. Khan, M. F. Kader, S. M. R. Islam et al., “Machine learning and deep learning approaches for brain disease diagnosis: principles and recent advances,” IEEE Access, vol. 9, pp. 37622–37655, 2021.</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32656"/>
            <a:ext cx="8229600" cy="1368152"/>
          </a:xfrm>
        </p:spPr>
        <p:txBody>
          <a:bodyPr>
            <a:normAutofit/>
          </a:bodyPr>
          <a:lstStyle/>
          <a:p>
            <a:r>
              <a:rPr lang="en-IN" sz="2400" b="1" dirty="0">
                <a:latin typeface="Times New Roman" panose="02020603050405020304" pitchFamily="18" charset="0"/>
                <a:cs typeface="Times New Roman" panose="02020603050405020304" pitchFamily="18" charset="0"/>
              </a:rPr>
              <a:t>LITERATURE REVIEW</a:t>
            </a:r>
            <a:endParaRPr lang="en-US" sz="2400" b="1" dirty="0"/>
          </a:p>
        </p:txBody>
      </p:sp>
      <p:sp>
        <p:nvSpPr>
          <p:cNvPr id="2" name="Content Placeholder 1"/>
          <p:cNvSpPr>
            <a:spLocks noGrp="1"/>
          </p:cNvSpPr>
          <p:nvPr>
            <p:ph idx="1"/>
          </p:nvPr>
        </p:nvSpPr>
        <p:spPr>
          <a:xfrm>
            <a:off x="446856" y="1484784"/>
            <a:ext cx="8229600" cy="1663149"/>
          </a:xfrm>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5. </a:t>
            </a:r>
            <a:r>
              <a:rPr lang="en-US" b="1" u="none" strike="noStrike" baseline="0" dirty="0">
                <a:latin typeface="Times New Roman" panose="02020603050405020304" pitchFamily="18" charset="0"/>
                <a:cs typeface="Times New Roman" panose="02020603050405020304" pitchFamily="18" charset="0"/>
              </a:rPr>
              <a:t>Getao Du, Xu Cao, Jimin Liang, Xueli Chen, and Yonghua Zhan, “Medical Image Segmentation based on U-Net: A Review”, Journal of Imaging Science and Technology, 2020.</a:t>
            </a:r>
          </a:p>
          <a:p>
            <a:pPr marL="0" indent="0" algn="just">
              <a:lnSpc>
                <a:spcPct val="150000"/>
              </a:lnSpc>
              <a:buNone/>
            </a:pPr>
            <a:endParaRPr lang="en-US" b="1" dirty="0"/>
          </a:p>
        </p:txBody>
      </p:sp>
      <p:sp>
        <p:nvSpPr>
          <p:cNvPr id="6" name="Date Placeholder 5"/>
          <p:cNvSpPr>
            <a:spLocks noGrp="1"/>
          </p:cNvSpPr>
          <p:nvPr>
            <p:ph type="dt" sz="half" idx="10"/>
          </p:nvPr>
        </p:nvSpPr>
        <p:spPr/>
        <p:txBody>
          <a:bodyPr/>
          <a:lstStyle/>
          <a:p>
            <a:fld id="{6895D223-330B-46C2-80AA-364D74E53CFC}" type="datetime1">
              <a:rPr lang="en-IN" smtClean="0"/>
              <a:pPr/>
              <a:t>06-05-2023</a:t>
            </a:fld>
            <a:endParaRPr lang="en-IN"/>
          </a:p>
        </p:txBody>
      </p:sp>
      <p:sp>
        <p:nvSpPr>
          <p:cNvPr id="3" name="Footer Placeholder 2"/>
          <p:cNvSpPr>
            <a:spLocks noGrp="1"/>
          </p:cNvSpPr>
          <p:nvPr>
            <p:ph type="ftr" sz="quarter" idx="11"/>
          </p:nvPr>
        </p:nvSpPr>
        <p:spPr>
          <a:xfrm>
            <a:off x="696468" y="6272785"/>
            <a:ext cx="6550496" cy="365125"/>
          </a:xfrm>
        </p:spPr>
        <p:txBody>
          <a:bodyPr/>
          <a:lstStyle/>
          <a:p>
            <a:r>
              <a:rPr lang="en-IN" dirty="0"/>
              <a:t>BATCH NO:  36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11</a:t>
            </a:fld>
            <a:endParaRPr lang="en-IN"/>
          </a:p>
        </p:txBody>
      </p:sp>
      <p:sp>
        <p:nvSpPr>
          <p:cNvPr id="7" name="TextBox 6"/>
          <p:cNvSpPr txBox="1"/>
          <p:nvPr/>
        </p:nvSpPr>
        <p:spPr>
          <a:xfrm>
            <a:off x="467544" y="3070224"/>
            <a:ext cx="8208912" cy="2584450"/>
          </a:xfrm>
          <a:prstGeom prst="rect">
            <a:avLst/>
          </a:prstGeom>
          <a:noFill/>
        </p:spPr>
        <p:txBody>
          <a:bodyPr wrap="square" rtlCol="0">
            <a:spAutoFit/>
          </a:bodyPr>
          <a:lstStyle/>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a:t>
            </a:r>
            <a:r>
              <a:rPr lang="en-US" sz="1800" b="0" i="0" u="none" strike="noStrike" baseline="0" dirty="0">
                <a:latin typeface="Times New Roman" panose="02020603050405020304" pitchFamily="18" charset="0"/>
                <a:cs typeface="Times New Roman" panose="02020603050405020304" pitchFamily="18" charset="0"/>
              </a:rPr>
              <a:t> show that the DL method based on the CNN has been widely recognized in medical image classification, segmentation, and other fields.</a:t>
            </a:r>
          </a:p>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t>
            </a:r>
            <a:r>
              <a:rPr lang="en-US" sz="1800" b="0" i="0" u="none" strike="noStrike" baseline="0" dirty="0">
                <a:latin typeface="Times New Roman" panose="02020603050405020304" pitchFamily="18" charset="0"/>
                <a:cs typeface="Times New Roman" panose="02020603050405020304" pitchFamily="18" charset="0"/>
              </a:rPr>
              <a:t>he U-net network structure is used to solve many problems related to image shadow and overlap. This is not only a breakthrough of DL in medical image processing, but also sets a foundation for doctors to obtain accurate pathologic diagnosis in the future.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32656"/>
            <a:ext cx="8229600" cy="1368152"/>
          </a:xfrm>
        </p:spPr>
        <p:txBody>
          <a:bodyPr>
            <a:normAutofit/>
          </a:bodyPr>
          <a:lstStyle/>
          <a:p>
            <a:r>
              <a:rPr lang="en-IN" sz="2400" b="1" dirty="0">
                <a:latin typeface="Times New Roman" panose="02020603050405020304" pitchFamily="18" charset="0"/>
                <a:cs typeface="Times New Roman" panose="02020603050405020304" pitchFamily="18" charset="0"/>
              </a:rPr>
              <a:t>LITERATURE REVIEW</a:t>
            </a:r>
            <a:endParaRPr lang="en-US" sz="2400" b="1" dirty="0"/>
          </a:p>
        </p:txBody>
      </p:sp>
      <p:sp>
        <p:nvSpPr>
          <p:cNvPr id="2" name="Content Placeholder 1"/>
          <p:cNvSpPr>
            <a:spLocks noGrp="1"/>
          </p:cNvSpPr>
          <p:nvPr>
            <p:ph idx="1"/>
          </p:nvPr>
        </p:nvSpPr>
        <p:spPr>
          <a:xfrm>
            <a:off x="467544" y="1484784"/>
            <a:ext cx="8229600" cy="1944216"/>
          </a:xfrm>
        </p:spPr>
        <p:txBody>
          <a:bodyPr>
            <a:no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6. </a:t>
            </a:r>
            <a:r>
              <a:rPr lang="en-US" b="1" i="0" u="none" strike="noStrike" baseline="0" dirty="0">
                <a:solidFill>
                  <a:srgbClr val="131413"/>
                </a:solidFill>
                <a:latin typeface="Times New Roman" panose="02020603050405020304" pitchFamily="18" charset="0"/>
                <a:cs typeface="Times New Roman" panose="02020603050405020304" pitchFamily="18" charset="0"/>
              </a:rPr>
              <a:t>A. Rehman, S. Naz, M. I. Razzak, F. Akram, and M. Imran, “A deep learning-based framework for automatic brain tumors classification using transfer learning,” Circuits, Systems, and Signal Processing, vol. 39, no. 2, pp. 757–775, 2020.</a:t>
            </a:r>
            <a:endParaRPr lang="en-IN"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6895D223-330B-46C2-80AA-364D74E53CFC}" type="datetime1">
              <a:rPr lang="en-IN" smtClean="0"/>
              <a:pPr/>
              <a:t>06-05-2023</a:t>
            </a:fld>
            <a:endParaRPr lang="en-IN"/>
          </a:p>
        </p:txBody>
      </p:sp>
      <p:sp>
        <p:nvSpPr>
          <p:cNvPr id="3" name="Footer Placeholder 2"/>
          <p:cNvSpPr>
            <a:spLocks noGrp="1"/>
          </p:cNvSpPr>
          <p:nvPr>
            <p:ph type="ftr" sz="quarter" idx="11"/>
          </p:nvPr>
        </p:nvSpPr>
        <p:spPr>
          <a:xfrm>
            <a:off x="696468" y="6272785"/>
            <a:ext cx="6550496" cy="365125"/>
          </a:xfrm>
        </p:spPr>
        <p:txBody>
          <a:bodyPr/>
          <a:lstStyle/>
          <a:p>
            <a:r>
              <a:rPr lang="en-IN" dirty="0"/>
              <a:t>BATCH NO:  36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12</a:t>
            </a:fld>
            <a:endParaRPr lang="en-IN"/>
          </a:p>
        </p:txBody>
      </p:sp>
      <p:sp>
        <p:nvSpPr>
          <p:cNvPr id="7" name="TextBox 6"/>
          <p:cNvSpPr txBox="1"/>
          <p:nvPr/>
        </p:nvSpPr>
        <p:spPr>
          <a:xfrm>
            <a:off x="467544" y="3429000"/>
            <a:ext cx="8219256" cy="2535566"/>
          </a:xfrm>
          <a:prstGeom prst="rect">
            <a:avLst/>
          </a:prstGeom>
          <a:noFill/>
        </p:spPr>
        <p:txBody>
          <a:bodyPr wrap="square" rtlCol="0">
            <a:spAutoFit/>
          </a:bodyPr>
          <a:lstStyle/>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presents a pioneer study in the domain of brain tumor classification using transfer learning and deep CNN architectures. We applied transfer learning techniques using natural images of ImageNet dataset (source task) and classified the brain tumor type from glioma, meningioma, and pituitary.</a:t>
            </a:r>
          </a:p>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This paper explored three architectures of deep CNN and transfer learning approaches for brain tumor in the medical imaging domain,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895" y="260350"/>
            <a:ext cx="7772400" cy="418465"/>
          </a:xfrm>
        </p:spPr>
        <p:txBody>
          <a:bodyPr>
            <a:normAutofit fontScale="90000"/>
          </a:bodyPr>
          <a:lstStyle/>
          <a:p>
            <a:r>
              <a:rPr lang="en-US" sz="2400" b="1" dirty="0">
                <a:latin typeface="Times New Roman" panose="02020603050405020304" pitchFamily="18" charset="0"/>
                <a:cs typeface="Times New Roman" panose="02020603050405020304" pitchFamily="18" charset="0"/>
              </a:rPr>
              <a:t>DESIGN AND METHOLOGIES</a:t>
            </a:r>
            <a:endParaRPr lang="en-IN" sz="24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C97E6A9-E6AF-4136-81B9-D9D4593781CD}"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13</a:t>
            </a:fld>
            <a:endParaRPr lang="en-IN"/>
          </a:p>
        </p:txBody>
      </p:sp>
      <p:sp>
        <p:nvSpPr>
          <p:cNvPr id="8" name="Title 1"/>
          <p:cNvSpPr>
            <a:spLocks noGrp="1"/>
          </p:cNvSpPr>
          <p:nvPr/>
        </p:nvSpPr>
        <p:spPr>
          <a:xfrm>
            <a:off x="675005" y="908685"/>
            <a:ext cx="7772400" cy="4845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200" b="0" kern="1200" cap="all" baseline="0">
                <a:blipFill>
                  <a:blip r:embed="rId2">
                    <a:extLst>
                      <a:ext uri="{28A0092B-C50C-407E-A947-70E740481C1C}">
                        <a14:useLocalDpi xmlns:a14="http://schemas.microsoft.com/office/drawing/2010/main" xmlns="" val="0"/>
                      </a:ext>
                    </a:extLst>
                  </a:blip>
                  <a:tile tx="6350" ty="-127000" sx="65000" sy="64000" flip="none" algn="tl"/>
                </a:blipFill>
                <a:latin typeface="+mj-lt"/>
                <a:ea typeface="+mj-ea"/>
                <a:cs typeface="+mj-cs"/>
              </a:defRPr>
            </a:lvl1pPr>
          </a:lstStyle>
          <a:p>
            <a:r>
              <a:rPr lang="en-US" sz="2400" b="1" dirty="0">
                <a:latin typeface="Times New Roman" panose="02020603050405020304" pitchFamily="18" charset="0"/>
                <a:cs typeface="Times New Roman" panose="02020603050405020304" pitchFamily="18" charset="0"/>
              </a:rPr>
              <a:t>MODULE:1</a:t>
            </a:r>
            <a:endParaRPr lang="en-IN" sz="2400" b="1" dirty="0">
              <a:latin typeface="Times New Roman" panose="02020603050405020304" pitchFamily="18" charset="0"/>
              <a:cs typeface="Times New Roman" panose="02020603050405020304" pitchFamily="18" charset="0"/>
            </a:endParaRPr>
          </a:p>
        </p:txBody>
      </p:sp>
      <p:pic>
        <p:nvPicPr>
          <p:cNvPr id="9" name="Content Placeholder 8"/>
          <p:cNvPicPr>
            <a:picLocks noGrp="1" noChangeAspect="1"/>
          </p:cNvPicPr>
          <p:nvPr>
            <p:ph idx="1"/>
          </p:nvPr>
        </p:nvPicPr>
        <p:blipFill>
          <a:blip r:embed="rId3" cstate="print"/>
          <a:srcRect t="13623" r="6799" b="5173"/>
          <a:stretch>
            <a:fillRect/>
          </a:stretch>
        </p:blipFill>
        <p:spPr>
          <a:xfrm>
            <a:off x="695325" y="2277110"/>
            <a:ext cx="7760970" cy="3751580"/>
          </a:xfrm>
          <a:prstGeom prst="rect">
            <a:avLst/>
          </a:prstGeom>
        </p:spPr>
      </p:pic>
      <p:sp>
        <p:nvSpPr>
          <p:cNvPr id="10" name="Text Box 9"/>
          <p:cNvSpPr txBox="1"/>
          <p:nvPr/>
        </p:nvSpPr>
        <p:spPr>
          <a:xfrm>
            <a:off x="895350" y="1600200"/>
            <a:ext cx="7348855" cy="368300"/>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Mat file to numpy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20395"/>
            <a:ext cx="7772400" cy="484505"/>
          </a:xfrm>
        </p:spPr>
        <p:txBody>
          <a:bodyPr>
            <a:normAutofit/>
          </a:bodyPr>
          <a:lstStyle/>
          <a:p>
            <a:r>
              <a:rPr lang="en-US" sz="2400" b="1" dirty="0">
                <a:latin typeface="Times New Roman" panose="02020603050405020304" pitchFamily="18" charset="0"/>
                <a:cs typeface="Times New Roman" panose="02020603050405020304" pitchFamily="18" charset="0"/>
              </a:rPr>
              <a:t>MODULE:2</a:t>
            </a:r>
            <a:endParaRPr lang="en-IN" sz="24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B0BB0584-8292-43A0-945E-D5FA59BFE0E9}"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14</a:t>
            </a:fld>
            <a:endParaRPr lang="en-IN"/>
          </a:p>
        </p:txBody>
      </p:sp>
      <p:pic>
        <p:nvPicPr>
          <p:cNvPr id="9" name="Content Placeholder 8"/>
          <p:cNvPicPr>
            <a:picLocks noGrp="1" noChangeAspect="1"/>
          </p:cNvPicPr>
          <p:nvPr>
            <p:ph idx="1"/>
          </p:nvPr>
        </p:nvPicPr>
        <p:blipFill>
          <a:blip r:embed="rId2" cstate="print"/>
          <a:stretch>
            <a:fillRect/>
          </a:stretch>
        </p:blipFill>
        <p:spPr>
          <a:xfrm>
            <a:off x="539750" y="1751330"/>
            <a:ext cx="7918450" cy="4418330"/>
          </a:xfrm>
          <a:prstGeom prst="rect">
            <a:avLst/>
          </a:prstGeom>
        </p:spPr>
      </p:pic>
      <p:sp>
        <p:nvSpPr>
          <p:cNvPr id="10" name="Text Box 9"/>
          <p:cNvSpPr txBox="1"/>
          <p:nvPr/>
        </p:nvSpPr>
        <p:spPr>
          <a:xfrm>
            <a:off x="897255" y="1243965"/>
            <a:ext cx="7348855" cy="368300"/>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Dataset classify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458280-6FAB-4376-A7F5-CAFB4D5938C4}"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15</a:t>
            </a:fld>
            <a:endParaRPr lang="en-IN"/>
          </a:p>
        </p:txBody>
      </p:sp>
      <p:sp>
        <p:nvSpPr>
          <p:cNvPr id="8" name="Title 7"/>
          <p:cNvSpPr>
            <a:spLocks noGrp="1"/>
          </p:cNvSpPr>
          <p:nvPr>
            <p:ph type="title"/>
          </p:nvPr>
        </p:nvSpPr>
        <p:spPr>
          <a:xfrm>
            <a:off x="685800" y="620395"/>
            <a:ext cx="7772400" cy="484505"/>
          </a:xfrm>
        </p:spPr>
        <p:txBody>
          <a:bodyPr>
            <a:normAutofit/>
          </a:bodyPr>
          <a:lstStyle/>
          <a:p>
            <a:r>
              <a:rPr lang="en-US" sz="2400" b="1" dirty="0">
                <a:latin typeface="Times New Roman" panose="02020603050405020304" pitchFamily="18" charset="0"/>
                <a:cs typeface="Times New Roman" panose="02020603050405020304" pitchFamily="18" charset="0"/>
              </a:rPr>
              <a:t>MODULE:3</a:t>
            </a:r>
            <a:endParaRPr lang="en-IN" sz="2400" b="1" dirty="0">
              <a:latin typeface="Times New Roman" panose="02020603050405020304" pitchFamily="18" charset="0"/>
              <a:cs typeface="Times New Roman" panose="02020603050405020304" pitchFamily="18" charset="0"/>
            </a:endParaRPr>
          </a:p>
        </p:txBody>
      </p:sp>
      <p:pic>
        <p:nvPicPr>
          <p:cNvPr id="9" name="Content Placeholder 8"/>
          <p:cNvPicPr>
            <a:picLocks noGrp="1" noChangeAspect="1"/>
          </p:cNvPicPr>
          <p:nvPr>
            <p:ph idx="1"/>
          </p:nvPr>
        </p:nvPicPr>
        <p:blipFill>
          <a:blip r:embed="rId2" cstate="print"/>
          <a:stretch>
            <a:fillRect/>
          </a:stretch>
        </p:blipFill>
        <p:spPr>
          <a:xfrm>
            <a:off x="686435" y="1833245"/>
            <a:ext cx="7771130" cy="4338955"/>
          </a:xfrm>
          <a:prstGeom prst="rect">
            <a:avLst/>
          </a:prstGeom>
        </p:spPr>
      </p:pic>
      <p:sp>
        <p:nvSpPr>
          <p:cNvPr id="10" name="Text Box 9"/>
          <p:cNvSpPr txBox="1"/>
          <p:nvPr/>
        </p:nvSpPr>
        <p:spPr>
          <a:xfrm>
            <a:off x="897255" y="1243965"/>
            <a:ext cx="7348855" cy="368300"/>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U-NET Architecture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FA64C2-3100-4457-8742-75526715C368}"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16</a:t>
            </a:fld>
            <a:endParaRPr lang="en-IN"/>
          </a:p>
        </p:txBody>
      </p:sp>
      <p:sp>
        <p:nvSpPr>
          <p:cNvPr id="8" name="Title 7"/>
          <p:cNvSpPr>
            <a:spLocks noGrp="1"/>
          </p:cNvSpPr>
          <p:nvPr>
            <p:ph type="title"/>
          </p:nvPr>
        </p:nvSpPr>
        <p:spPr>
          <a:xfrm>
            <a:off x="685800" y="620395"/>
            <a:ext cx="7772400" cy="484505"/>
          </a:xfrm>
        </p:spPr>
        <p:txBody>
          <a:bodyPr>
            <a:normAutofit/>
          </a:bodyPr>
          <a:lstStyle/>
          <a:p>
            <a:r>
              <a:rPr lang="en-US" sz="2400" b="1" dirty="0">
                <a:latin typeface="Times New Roman" panose="02020603050405020304" pitchFamily="18" charset="0"/>
                <a:cs typeface="Times New Roman" panose="02020603050405020304" pitchFamily="18" charset="0"/>
              </a:rPr>
              <a:t>MODULE:4</a:t>
            </a:r>
            <a:endParaRPr lang="en-IN" sz="2400" b="1" dirty="0">
              <a:latin typeface="Times New Roman" panose="02020603050405020304" pitchFamily="18" charset="0"/>
              <a:cs typeface="Times New Roman" panose="02020603050405020304" pitchFamily="18" charset="0"/>
            </a:endParaRPr>
          </a:p>
        </p:txBody>
      </p:sp>
      <p:pic>
        <p:nvPicPr>
          <p:cNvPr id="9" name="Content Placeholder 8"/>
          <p:cNvPicPr>
            <a:picLocks noGrp="1" noChangeAspect="1"/>
          </p:cNvPicPr>
          <p:nvPr>
            <p:ph idx="1"/>
          </p:nvPr>
        </p:nvPicPr>
        <p:blipFill>
          <a:blip r:embed="rId2" cstate="print"/>
          <a:stretch>
            <a:fillRect/>
          </a:stretch>
        </p:blipFill>
        <p:spPr>
          <a:xfrm>
            <a:off x="323850" y="2420620"/>
            <a:ext cx="8722360" cy="1721485"/>
          </a:xfrm>
          <a:prstGeom prst="rect">
            <a:avLst/>
          </a:prstGeom>
        </p:spPr>
      </p:pic>
      <p:sp>
        <p:nvSpPr>
          <p:cNvPr id="10" name="Text Box 9"/>
          <p:cNvSpPr txBox="1"/>
          <p:nvPr/>
        </p:nvSpPr>
        <p:spPr>
          <a:xfrm>
            <a:off x="897255" y="1243965"/>
            <a:ext cx="7348855" cy="368300"/>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Output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Architecture Diagram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–Flow Diagram</a:t>
            </a:r>
          </a:p>
        </p:txBody>
      </p:sp>
      <p:sp>
        <p:nvSpPr>
          <p:cNvPr id="6" name="Date Placeholder 5"/>
          <p:cNvSpPr>
            <a:spLocks noGrp="1"/>
          </p:cNvSpPr>
          <p:nvPr>
            <p:ph type="dt" sz="half" idx="10"/>
          </p:nvPr>
        </p:nvSpPr>
        <p:spPr/>
        <p:txBody>
          <a:bodyPr/>
          <a:lstStyle/>
          <a:p>
            <a:fld id="{6C6BF4AC-4E26-4D1F-9003-921A18503A76}"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 </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7772400" cy="1609344"/>
          </a:xfrm>
        </p:spPr>
        <p:txBody>
          <a:bodyPr>
            <a:normAutofit/>
          </a:bodyPr>
          <a:lstStyle/>
          <a:p>
            <a:r>
              <a:rPr lang="en-US" sz="2400" b="1" dirty="0">
                <a:latin typeface="Times New Roman" panose="02020603050405020304" pitchFamily="18" charset="0"/>
                <a:cs typeface="Times New Roman" panose="02020603050405020304" pitchFamily="18" charset="0"/>
              </a:rPr>
              <a:t>ARCHITECTURE DIAGRAM</a:t>
            </a:r>
          </a:p>
        </p:txBody>
      </p:sp>
      <p:sp>
        <p:nvSpPr>
          <p:cNvPr id="3" name="Date Placeholder 2"/>
          <p:cNvSpPr>
            <a:spLocks noGrp="1"/>
          </p:cNvSpPr>
          <p:nvPr>
            <p:ph type="dt" sz="half" idx="10"/>
          </p:nvPr>
        </p:nvSpPr>
        <p:spPr/>
        <p:txBody>
          <a:bodyPr/>
          <a:lstStyle/>
          <a:p>
            <a:fld id="{B8D055EC-92E0-4521-8D38-203B5CE64B47}"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        DEPARTMENT OF COMPUTER SCIENCE &amp; ENGINEERING</a:t>
            </a:r>
          </a:p>
        </p:txBody>
      </p:sp>
      <p:sp>
        <p:nvSpPr>
          <p:cNvPr id="5" name="Slide Number Placeholder 4"/>
          <p:cNvSpPr>
            <a:spLocks noGrp="1"/>
          </p:cNvSpPr>
          <p:nvPr>
            <p:ph type="sldNum" sz="quarter" idx="12"/>
          </p:nvPr>
        </p:nvSpPr>
        <p:spPr>
          <a:xfrm>
            <a:off x="6516631" y="6492815"/>
            <a:ext cx="2133600" cy="365125"/>
          </a:xfrm>
        </p:spPr>
        <p:txBody>
          <a:bodyPr/>
          <a:lstStyle/>
          <a:p>
            <a:fld id="{FA00FD27-8DB0-4CB2-BD37-BEA95C6A1008}" type="slidenum">
              <a:rPr lang="en-IN" smtClean="0"/>
              <a:pPr/>
              <a:t>18</a:t>
            </a:fld>
            <a:endParaRPr lang="en-IN"/>
          </a:p>
        </p:txBody>
      </p:sp>
      <p:sp>
        <p:nvSpPr>
          <p:cNvPr id="218" name="Text Box 217"/>
          <p:cNvSpPr txBox="1"/>
          <p:nvPr/>
        </p:nvSpPr>
        <p:spPr>
          <a:xfrm>
            <a:off x="8532495" y="6301740"/>
            <a:ext cx="375920" cy="306705"/>
          </a:xfrm>
          <a:prstGeom prst="rect">
            <a:avLst/>
          </a:prstGeom>
          <a:noFill/>
        </p:spPr>
        <p:txBody>
          <a:bodyPr wrap="none" rtlCol="0" anchor="t">
            <a:spAutoFit/>
          </a:bodyPr>
          <a:lstStyle/>
          <a:p>
            <a:fld id="{FA00FD27-8DB0-4CB2-BD37-BEA95C6A1008}" type="slidenum">
              <a:rPr lang="en-IN" sz="1400" smtClean="0">
                <a:solidFill>
                  <a:schemeClr val="bg1"/>
                </a:solidFill>
              </a:rPr>
              <a:pPr/>
              <a:t>18</a:t>
            </a:fld>
            <a:endParaRPr lang="en-IN" sz="1400">
              <a:solidFill>
                <a:schemeClr val="bg1"/>
              </a:solidFill>
            </a:endParaRPr>
          </a:p>
        </p:txBody>
      </p:sp>
      <p:pic>
        <p:nvPicPr>
          <p:cNvPr id="219" name="Picture 218" descr="Architect (1).png"/>
          <p:cNvPicPr>
            <a:picLocks noChangeAspect="1"/>
          </p:cNvPicPr>
          <p:nvPr/>
        </p:nvPicPr>
        <p:blipFill>
          <a:blip r:embed="rId2" cstate="print"/>
          <a:stretch>
            <a:fillRect/>
          </a:stretch>
        </p:blipFill>
        <p:spPr>
          <a:xfrm>
            <a:off x="323528" y="765165"/>
            <a:ext cx="8313272" cy="57601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005" y="476885"/>
            <a:ext cx="7772400" cy="631825"/>
          </a:xfrm>
        </p:spPr>
        <p:txBody>
          <a:bodyPr>
            <a:normAutofit/>
          </a:bodyPr>
          <a:lstStyle/>
          <a:p>
            <a:r>
              <a:rPr lang="en-US" sz="2400" b="1" dirty="0">
                <a:latin typeface="Times New Roman" panose="02020603050405020304" pitchFamily="18" charset="0"/>
                <a:cs typeface="Times New Roman" panose="02020603050405020304" pitchFamily="18" charset="0"/>
              </a:rPr>
              <a:t>DATA FLOW DIAGRAM</a:t>
            </a:r>
          </a:p>
        </p:txBody>
      </p:sp>
      <p:sp>
        <p:nvSpPr>
          <p:cNvPr id="3" name="Date Placeholder 2"/>
          <p:cNvSpPr>
            <a:spLocks noGrp="1"/>
          </p:cNvSpPr>
          <p:nvPr>
            <p:ph type="dt" sz="half" idx="10"/>
          </p:nvPr>
        </p:nvSpPr>
        <p:spPr/>
        <p:txBody>
          <a:bodyPr/>
          <a:lstStyle/>
          <a:p>
            <a:fld id="{55E3AA76-41E4-444A-A1EB-FF3D494392FE}"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 </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19</a:t>
            </a:fld>
            <a:endParaRPr lang="en-IN"/>
          </a:p>
        </p:txBody>
      </p:sp>
      <p:pic>
        <p:nvPicPr>
          <p:cNvPr id="25" name="Picture 24" descr="Blank diagram (3).png"/>
          <p:cNvPicPr>
            <a:picLocks noChangeAspect="1"/>
          </p:cNvPicPr>
          <p:nvPr/>
        </p:nvPicPr>
        <p:blipFill>
          <a:blip r:embed="rId2" cstate="print"/>
          <a:stretch>
            <a:fillRect/>
          </a:stretch>
        </p:blipFill>
        <p:spPr>
          <a:xfrm>
            <a:off x="2959877" y="980728"/>
            <a:ext cx="3124291" cy="54322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45855"/>
            <a:ext cx="7772400" cy="1609344"/>
          </a:xfrm>
        </p:spPr>
        <p:txBody>
          <a:bodyPr>
            <a:normAutofit/>
          </a:bodyPr>
          <a:lstStyle/>
          <a:p>
            <a:r>
              <a:rPr lang="en-IN" sz="2400" b="1" dirty="0">
                <a:latin typeface="Times New Roman" panose="02020603050405020304" pitchFamily="18" charset="0"/>
                <a:cs typeface="Times New Roman" panose="02020603050405020304" pitchFamily="18" charset="0"/>
              </a:rPr>
              <a:t>REFERENCES</a:t>
            </a:r>
            <a:endParaRPr lang="en-IN" sz="2400" dirty="0"/>
          </a:p>
        </p:txBody>
      </p:sp>
      <p:sp>
        <p:nvSpPr>
          <p:cNvPr id="3" name="Content Placeholder 2"/>
          <p:cNvSpPr>
            <a:spLocks noGrp="1"/>
          </p:cNvSpPr>
          <p:nvPr>
            <p:ph idx="1"/>
          </p:nvPr>
        </p:nvSpPr>
        <p:spPr>
          <a:xfrm>
            <a:off x="395536" y="1556792"/>
            <a:ext cx="8352928" cy="4536504"/>
          </a:xfrm>
        </p:spPr>
        <p:txBody>
          <a:bodyPr>
            <a:noAutofit/>
          </a:bodyPr>
          <a:lstStyle/>
          <a:p>
            <a:pPr algn="just">
              <a:lnSpc>
                <a:spcPct val="150000"/>
              </a:lnSpc>
              <a:buFont typeface="Wingdings" panose="05000000000000000000" pitchFamily="2" charset="2"/>
              <a:buChar char="Ø"/>
            </a:pPr>
            <a:r>
              <a:rPr lang="en-US" sz="1800" u="none" strike="noStrike" baseline="0" dirty="0">
                <a:solidFill>
                  <a:srgbClr val="131413"/>
                </a:solidFill>
                <a:latin typeface="Times New Roman" panose="02020603050405020304" pitchFamily="18" charset="0"/>
                <a:cs typeface="Times New Roman" panose="02020603050405020304" pitchFamily="18" charset="0"/>
              </a:rPr>
              <a:t>Tejas Shelatkar, Dr. Urvashi,</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Mohammad Shorfuzzaman</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Abdulmajeed Alsufyani</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Kuruva Lakshmanna</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Diagnosis of Brain Tumor Using Light Weight Deep Learning Model with Fine-Tuning Approach”, </a:t>
            </a:r>
            <a:r>
              <a:rPr lang="en-US" sz="1800" u="none" strike="noStrike" baseline="0" dirty="0">
                <a:latin typeface="Times New Roman" panose="02020603050405020304" pitchFamily="18" charset="0"/>
                <a:cs typeface="Times New Roman" panose="02020603050405020304" pitchFamily="18" charset="0"/>
              </a:rPr>
              <a:t>Computational and Mathematical Methods in Medicine , 2022.</a:t>
            </a: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Nahian Siddique, Sidike Paheding, Colin P. Elkin, Vijay </a:t>
            </a:r>
            <a:r>
              <a:rPr lang="en-US" sz="1800" u="none" strike="noStrike" baseline="0" dirty="0" err="1">
                <a:latin typeface="Times New Roman" panose="02020603050405020304" pitchFamily="18" charset="0"/>
                <a:cs typeface="Times New Roman" panose="02020603050405020304" pitchFamily="18" charset="0"/>
              </a:rPr>
              <a:t>DevabhaKtuni</a:t>
            </a:r>
            <a:r>
              <a:rPr lang="en-US" sz="1800" u="none" strike="noStrike" baseline="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t>
            </a:r>
            <a:r>
              <a:rPr lang="en-US" sz="1800" u="none" strike="noStrike" baseline="0" dirty="0">
                <a:latin typeface="Times New Roman" panose="02020603050405020304" pitchFamily="18" charset="0"/>
                <a:cs typeface="Times New Roman" panose="02020603050405020304" pitchFamily="18" charset="0"/>
              </a:rPr>
              <a:t>U-Net and Its Variants for Medical Image Segmentation: A Review of Theory and Applications”, Digital Object Identifier, 2021.</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Samia Mushtaq, Apash Roy, Tawseef Ahmed Teli, “A Comparative Study on Various Machine Learning Techniques for Brain Tumor Detection Using MRI”, Global Emerging Innovation Summit, 2021.</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800" dirty="0">
              <a:solidFill>
                <a:srgbClr val="131413"/>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5BBB77E-706F-4434-957B-D8355BF4ED0A}"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 </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835954"/>
            <a:ext cx="8229600" cy="4104456"/>
          </a:xfrm>
        </p:spPr>
        <p:txBody>
          <a:bodyPr>
            <a:normAutofit/>
          </a:bodyPr>
          <a:lstStyle/>
          <a:p>
            <a:pPr algn="just">
              <a:lnSpc>
                <a:spcPct val="150000"/>
              </a:lnSpc>
              <a:buFont typeface="Wingdings" panose="05000000000000000000" pitchFamily="2" charset="2"/>
              <a:buChar char="Ø"/>
            </a:pPr>
            <a:r>
              <a:rPr lang="en-US" sz="1800" b="0" i="0" u="none" strike="noStrike" baseline="0" dirty="0">
                <a:solidFill>
                  <a:srgbClr val="131413"/>
                </a:solidFill>
                <a:latin typeface="Times New Roman" panose="02020603050405020304" pitchFamily="18" charset="0"/>
                <a:cs typeface="Times New Roman" panose="02020603050405020304" pitchFamily="18" charset="0"/>
              </a:rPr>
              <a:t>P. Khan, M. F. Kader, S. M. R. Islam et al., “Machine learning and deep learning approaches for brain disease diagnosis: principles and recent advances,” IEEE Access, vol. 9, pp. 37622–37655, 2021.</a:t>
            </a:r>
            <a:endParaRPr lang="en-US" sz="1800" u="none" strike="noStrike" baseline="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Getao Du, Xu Cao, Jimin Liang, Xueli Chen, and Yonghua Zhan, “Medical Image Segmentation based on U-Net: A Review”, Journal of Imaging Science and Technology, 2020.</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b="0" i="0" u="none" strike="noStrike" baseline="0" dirty="0">
                <a:solidFill>
                  <a:srgbClr val="131413"/>
                </a:solidFill>
                <a:latin typeface="Times New Roman" panose="02020603050405020304" pitchFamily="18" charset="0"/>
                <a:cs typeface="Times New Roman" panose="02020603050405020304" pitchFamily="18" charset="0"/>
              </a:rPr>
              <a:t>A. Rehman, S. Naz, M. I. Razzak, F. Akram, and M. Imran, “A deep learning-based framework for automatic brain tumors classification using transfer learning,” Circuits, Systems, and Signal Processing, vol. 39, no. 2, pp. 757–775, 2020.</a:t>
            </a: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747948F5-3D04-4C41-85E6-B1A4E0F730CC}" type="datetime1">
              <a:rPr lang="en-IN" smtClean="0"/>
              <a:pPr/>
              <a:t>06-05-2023</a:t>
            </a:fld>
            <a:endParaRPr lang="en-IN"/>
          </a:p>
        </p:txBody>
      </p:sp>
      <p:sp>
        <p:nvSpPr>
          <p:cNvPr id="3" name="Footer Placeholder 2"/>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4" name="Slide Number Placeholder 3"/>
          <p:cNvSpPr>
            <a:spLocks noGrp="1"/>
          </p:cNvSpPr>
          <p:nvPr>
            <p:ph type="sldNum" sz="quarter" idx="12"/>
          </p:nvPr>
        </p:nvSpPr>
        <p:spPr/>
        <p:txBody>
          <a:bodyPr/>
          <a:lstStyle/>
          <a:p>
            <a:fld id="{FA00FD27-8DB0-4CB2-BD37-BEA95C6A1008}" type="slidenum">
              <a:rPr lang="en-IN" smtClean="0"/>
              <a:pPr/>
              <a:t>21</a:t>
            </a:fld>
            <a:endParaRPr lang="en-IN"/>
          </a:p>
        </p:txBody>
      </p:sp>
      <p:sp>
        <p:nvSpPr>
          <p:cNvPr id="6" name="Title 1"/>
          <p:cNvSpPr>
            <a:spLocks noGrp="1"/>
          </p:cNvSpPr>
          <p:nvPr>
            <p:ph type="title"/>
          </p:nvPr>
        </p:nvSpPr>
        <p:spPr>
          <a:xfrm>
            <a:off x="395536" y="250971"/>
            <a:ext cx="7772400" cy="1609344"/>
          </a:xfrm>
        </p:spPr>
        <p:txBody>
          <a:bodyPr>
            <a:normAutofit/>
          </a:bodyPr>
          <a:lstStyle/>
          <a:p>
            <a:r>
              <a:rPr lang="en-IN" sz="2400" b="1" dirty="0">
                <a:latin typeface="Times New Roman" panose="02020603050405020304" pitchFamily="18" charset="0"/>
                <a:cs typeface="Times New Roman" panose="02020603050405020304" pitchFamily="18" charset="0"/>
              </a:rPr>
              <a:t>REFERENCES</a:t>
            </a:r>
            <a:endParaRPr lang="en-I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IN" sz="8800" dirty="0">
                <a:latin typeface="Times New Roman" panose="02020603050405020304" pitchFamily="18" charset="0"/>
                <a:cs typeface="Times New Roman" panose="02020603050405020304" pitchFamily="18" charset="0"/>
              </a:rPr>
              <a:t>THANK YOU</a:t>
            </a:r>
          </a:p>
        </p:txBody>
      </p:sp>
      <p:sp>
        <p:nvSpPr>
          <p:cNvPr id="6" name="Date Placeholder 5"/>
          <p:cNvSpPr>
            <a:spLocks noGrp="1"/>
          </p:cNvSpPr>
          <p:nvPr>
            <p:ph type="dt" sz="half" idx="10"/>
          </p:nvPr>
        </p:nvSpPr>
        <p:spPr/>
        <p:txBody>
          <a:bodyPr/>
          <a:lstStyle/>
          <a:p>
            <a:fld id="{9AA6929D-FBF1-49B9-B7EB-CAFAE318BF09}" type="datetime1">
              <a:rPr lang="en-IN" smtClean="0"/>
              <a:pPr/>
              <a:t>06-05-2023</a:t>
            </a:fld>
            <a:endParaRPr lang="en-IN"/>
          </a:p>
        </p:txBody>
      </p:sp>
      <p:sp>
        <p:nvSpPr>
          <p:cNvPr id="4" name="Footer Placeholder 3"/>
          <p:cNvSpPr>
            <a:spLocks noGrp="1"/>
          </p:cNvSpPr>
          <p:nvPr>
            <p:ph type="ftr" sz="quarter" idx="11"/>
          </p:nvPr>
        </p:nvSpPr>
        <p:spPr/>
        <p:txBody>
          <a:bodyPr/>
          <a:lstStyle/>
          <a:p>
            <a:r>
              <a:rPr lang="en-IN"/>
              <a:t>BATCH NO:</a:t>
            </a:r>
            <a:r>
              <a:rPr lang="en-US" altLang="en-IN"/>
              <a:t>36</a:t>
            </a:r>
            <a:r>
              <a:rPr lang="en-IN"/>
              <a:t>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22</a:t>
            </a:fld>
            <a:endParaRPr lang="en-I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4</TotalTime>
  <Words>1270</Words>
  <Application>Microsoft Office PowerPoint</Application>
  <PresentationFormat>On-screen Show (4:3)</PresentationFormat>
  <Paragraphs>160</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Wood Type</vt:lpstr>
      <vt:lpstr>Slide 1</vt:lpstr>
      <vt:lpstr>Slide 2</vt:lpstr>
      <vt:lpstr>ABSTRACT</vt:lpstr>
      <vt:lpstr>OBJECTIVES </vt:lpstr>
      <vt:lpstr>INTRODUCTION</vt:lpstr>
      <vt:lpstr>INTRODUCTION</vt:lpstr>
      <vt:lpstr>LITERATURE REVIEW</vt:lpstr>
      <vt:lpstr>LITERATURE REVIEW</vt:lpstr>
      <vt:lpstr>LITERATURE REVIEW</vt:lpstr>
      <vt:lpstr>LITERATURE REVIEW</vt:lpstr>
      <vt:lpstr>LITERATURE REVIEW</vt:lpstr>
      <vt:lpstr>LITERATURE REVIEW</vt:lpstr>
      <vt:lpstr>DESIGN AND METHOLOGIES</vt:lpstr>
      <vt:lpstr>MODULE:2</vt:lpstr>
      <vt:lpstr>MODULE:3</vt:lpstr>
      <vt:lpstr>MODULE:4</vt:lpstr>
      <vt:lpstr>IMPLEMENTATION</vt:lpstr>
      <vt:lpstr>ARCHITECTURE DIAGRAM</vt:lpstr>
      <vt:lpstr>DATA FLOW DIAGRAM</vt:lpstr>
      <vt:lpstr>REFERENCES</vt:lpstr>
      <vt:lpstr>REFERENCES</vt:lpstr>
      <vt:lpstr>Slide 22</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HP</cp:lastModifiedBy>
  <cp:revision>94</cp:revision>
  <dcterms:created xsi:type="dcterms:W3CDTF">2019-08-05T06:49:00Z</dcterms:created>
  <dcterms:modified xsi:type="dcterms:W3CDTF">2023-05-06T15:23:17Z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B33E7A14FB354CEDB1F6B2DD54297099</vt:lpwstr>
  </property>
  <property fmtid="{D5CDD505-2E9C-101B-9397-08002B2CF9AE}" pid="3" name="KSOProductBuildVer">
    <vt:lpwstr>1033-11.2.0.11440</vt:lpwstr>
  </property>
</Properties>
</file>